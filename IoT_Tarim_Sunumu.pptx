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9" d="100"/>
          <a:sy n="149" d="100"/>
        </p:scale>
        <p:origin x="504" y="1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05905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Merhaba. Bugün Bursa Teknik Üniversitesi Bilgisayar Mühendisliği Bölümünün Nesnelerin İnterneti dersi kapsamında geliştirdiğimiz 'IoT Tabanlı Topraklı Tarımda Akıllı Işıklandırma Sistemi' adlı projemizi sizinle paylaşacağız. Bu proje, 9 numaralı takım tarafından hazırlanmıştır.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Problemi şöyle açıklayabiliriz: Tarım sektöründe, özellikle sera ve kapalı alanlar olmak üzere, bitkilerin ışık ihtiyacını karşılamak merkezi bir zorluk. İnsan eli ile yapılan kontrol hata ve verimsizliklere açık. Bu nedenle sensörleri ve otomasyonu kullanarak çözüm sunmak istiyoruz.</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Projemizin temel amacı, tam otomasyonlu ve akıllı bir ışıklandırma sistemi geliştirmektir. Sensörlerle ölçüm yapacak, web panel üzerinden kullanıcı kontrol sağlayacak, ve makine öğrenmesiyle sistem önerileri sunacağız.</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Sistem mimarisinde, sensörler NodeMCU üzerine bağlanır. NodeMCU verileri MQTT üzerinden Flask web uygulamasına gönderir. Flask uygulaması bu verileri veritabanına kaydeder, ML modelini çalıştırır ve röle kontrol sinyallerini geri NodeMCU'ya iletir. Ayrıca hava durumu API'sinden dış veri çekilerek sisteme eklenir.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Donanım tarafında, NodeMCU ESP8266 mikrodenetleyici merkezi rol oynuyor. BH1750 sensörü ışık seviyesini ölçüyor. Röle modülü LED şeriti kontrol ediyor. Tüm bileşenler ekonomik ve yaygın olarak temin edilebilen malzemeler.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MQTT protokolü, IoT cihazları arasındaki hafif ve güvenilir iletişimi sağlamak için ideal. Telemetry topic'ine NodeMCU sensör verilerini gönderiyor, command topic'inden ise Flask panelinden gelen komutları alıyor. JSON formatı yapılandırılabilir ve genişletilebilir.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Flask panel, sistem yönetiminin merkezi noktası. Burada tüm anlık veriler takip ediliyor, bitki seçimi yapılıyor, manuel kontrol sağlanıyor. Panel ayrıca veritabanında tutulan geçmiş ölçümleri gösteriyor ve ML modeli önerilerine yer veriyor.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 bitki türünün kendi ışık ihtiyaçları var. Marul ışığa daha açık, nane daha gölgeyi seviyorsa, fesleğen ise yüksek ışık ister. Sistemimiz bu farklılıkları profil olarak tutan bir yapıya sahip. Bitki seçimi yapılır yapılmaz, sistem otomatik olarak ilgili parametreleri devreye sokar.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Kontrol sistemi iki modda çalışıyor. Otomatik modda sistem kuralları takip ediyor ve sensör verilerine göre LED'i açıp kapatıyor. Manuel modda operatör doğrudan kontrol sağlıyor. Sistem tasarımında güvenlik ön planda tutulmuş, röle mekanizması dayanıklı ve kontrollü.</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ML modeli, sistem kararlarına karar desteği sunuyor. Decision Tree seçilmesinin nedeni, modelin yorumlanabilir (interpretable) olması. İlk modelde %100 doğruluk görüldüğü için ezberleme (overfitting) tespiti yapıldı. Sentetik veriye gürültü eklenerek daha gerçekçi bir model eğitildi. Final model %95 doğruluk sağlıyor.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OpenWeather API kullanarak sistem Bursa şehrinin hava durumu verilerini anlık olarak çekiyor. Bu veriler panelde gösteriliyor ve gelecekte ML modeline entegre edilebilir. Örneğin çok bulutlu bir günde artificial lighting daha aktif kullanılabilir. Sıcaklık verisi ise bitki fizyolojisi için kontekst sağlıyor.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Projemiz başarıyla tamamlandı ve tüm hedeflerine ulaştı. Sistem prototip olarak çalışıyor, MQTT iletişimi kurulmuş, web paneli aktif, veritabanı işlevsel ve ML modeli istenen doğruluk seviyesine ulaşmıştır. Gelecekte PWM ile daha sofistike kontrol, daha fazla sensör ve gelişmiş ML modelleriyle sistem geliştirilebilir. Sorularınız varsa cevaplamaya hazırız.</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5E20"/>
        </a:solidFill>
        <a:effectLst/>
      </p:bgPr>
    </p:bg>
    <p:spTree>
      <p:nvGrpSpPr>
        <p:cNvPr id="1" name=""/>
        <p:cNvGrpSpPr/>
        <p:nvPr/>
      </p:nvGrpSpPr>
      <p:grpSpPr>
        <a:xfrm>
          <a:off x="0" y="0"/>
          <a:ext cx="0" cy="0"/>
          <a:chOff x="0" y="0"/>
          <a:chExt cx="0" cy="0"/>
        </a:xfrm>
      </p:grpSpPr>
      <p:sp>
        <p:nvSpPr>
          <p:cNvPr id="2" name="Text 0"/>
          <p:cNvSpPr/>
          <p:nvPr/>
        </p:nvSpPr>
        <p:spPr>
          <a:xfrm>
            <a:off x="457200" y="1097280"/>
            <a:ext cx="8229600" cy="1371600"/>
          </a:xfrm>
          <a:prstGeom prst="rect">
            <a:avLst/>
          </a:prstGeom>
          <a:noFill/>
          <a:ln/>
        </p:spPr>
        <p:txBody>
          <a:bodyPr wrap="square" rtlCol="0" anchor="ctr"/>
          <a:lstStyle/>
          <a:p>
            <a:pPr marL="0" indent="0" algn="ctr">
              <a:buNone/>
            </a:pPr>
            <a:r>
              <a:rPr lang="en-US" sz="4400" b="1" dirty="0">
                <a:solidFill>
                  <a:srgbClr val="FFFFFF"/>
                </a:solidFill>
                <a:latin typeface="Calibri" pitchFamily="34" charset="0"/>
                <a:ea typeface="Calibri" pitchFamily="34" charset="-122"/>
                <a:cs typeface="Calibri" pitchFamily="34" charset="-120"/>
              </a:rPr>
              <a:t>IoT Tabanlı Topraklı Tarımda</a:t>
            </a:r>
            <a:endParaRPr lang="en-US" sz="4400" dirty="0"/>
          </a:p>
          <a:p>
            <a:pPr marL="0" indent="0" algn="ctr">
              <a:buNone/>
            </a:pPr>
            <a:r>
              <a:rPr lang="en-US" sz="4400" b="1" dirty="0">
                <a:solidFill>
                  <a:srgbClr val="FFFFFF"/>
                </a:solidFill>
                <a:latin typeface="Calibri" pitchFamily="34" charset="0"/>
                <a:ea typeface="Calibri" pitchFamily="34" charset="-122"/>
                <a:cs typeface="Calibri" pitchFamily="34" charset="-120"/>
              </a:rPr>
              <a:t>Akıllı Işıklandırma Sistemi</a:t>
            </a:r>
            <a:endParaRPr lang="en-US" sz="4400" dirty="0"/>
          </a:p>
        </p:txBody>
      </p:sp>
      <p:sp>
        <p:nvSpPr>
          <p:cNvPr id="3" name="Text 1"/>
          <p:cNvSpPr/>
          <p:nvPr/>
        </p:nvSpPr>
        <p:spPr>
          <a:xfrm>
            <a:off x="457200" y="2560320"/>
            <a:ext cx="8229600" cy="457200"/>
          </a:xfrm>
          <a:prstGeom prst="rect">
            <a:avLst/>
          </a:prstGeom>
          <a:noFill/>
          <a:ln/>
        </p:spPr>
        <p:txBody>
          <a:bodyPr wrap="square" rtlCol="0" anchor="ctr"/>
          <a:lstStyle/>
          <a:p>
            <a:pPr marL="0" indent="0" algn="ctr">
              <a:buNone/>
            </a:pPr>
            <a:r>
              <a:rPr lang="en-US" sz="2400" dirty="0">
                <a:solidFill>
                  <a:srgbClr val="A5D6A7"/>
                </a:solidFill>
                <a:latin typeface="Calibri" pitchFamily="34" charset="0"/>
                <a:ea typeface="Calibri" pitchFamily="34" charset="-122"/>
                <a:cs typeface="Calibri" pitchFamily="34" charset="-120"/>
              </a:rPr>
              <a:t>Takım No: 9</a:t>
            </a:r>
            <a:endParaRPr lang="en-US" sz="2400" dirty="0"/>
          </a:p>
        </p:txBody>
      </p:sp>
      <p:sp>
        <p:nvSpPr>
          <p:cNvPr id="4" name="Text 2"/>
          <p:cNvSpPr/>
          <p:nvPr/>
        </p:nvSpPr>
        <p:spPr>
          <a:xfrm>
            <a:off x="457200" y="3108960"/>
            <a:ext cx="8229600" cy="365760"/>
          </a:xfrm>
          <a:prstGeom prst="rect">
            <a:avLst/>
          </a:prstGeom>
          <a:noFill/>
          <a:ln/>
        </p:spPr>
        <p:txBody>
          <a:bodyPr wrap="square" rtlCol="0" anchor="ctr"/>
          <a:lstStyle/>
          <a:p>
            <a:pPr marL="0" indent="0" algn="ctr">
              <a:buNone/>
            </a:pPr>
            <a:r>
              <a:rPr lang="en-US" sz="1600" dirty="0">
                <a:solidFill>
                  <a:srgbClr val="FFFFFF"/>
                </a:solidFill>
                <a:latin typeface="Calibri" pitchFamily="34" charset="0"/>
                <a:ea typeface="Calibri" pitchFamily="34" charset="-122"/>
                <a:cs typeface="Calibri" pitchFamily="34" charset="-120"/>
              </a:rPr>
              <a:t>Nesnelerin İnterneti (IoT) Dersi - Dönem Projesi</a:t>
            </a:r>
            <a:endParaRPr lang="en-US" sz="1600" dirty="0"/>
          </a:p>
        </p:txBody>
      </p:sp>
      <p:sp>
        <p:nvSpPr>
          <p:cNvPr id="5" name="Text 3"/>
          <p:cNvSpPr/>
          <p:nvPr/>
        </p:nvSpPr>
        <p:spPr>
          <a:xfrm>
            <a:off x="457200" y="3840480"/>
            <a:ext cx="8229600" cy="731520"/>
          </a:xfrm>
          <a:prstGeom prst="rect">
            <a:avLst/>
          </a:prstGeom>
          <a:noFill/>
          <a:ln/>
        </p:spPr>
        <p:txBody>
          <a:bodyPr wrap="square" rtlCol="0" anchor="ctr"/>
          <a:lstStyle/>
          <a:p>
            <a:pPr marL="0" indent="0" algn="ctr">
              <a:buNone/>
            </a:pPr>
            <a:r>
              <a:rPr lang="en-US" sz="1400" i="1" dirty="0">
                <a:solidFill>
                  <a:srgbClr val="A5D6A7"/>
                </a:solidFill>
                <a:latin typeface="Calibri" pitchFamily="34" charset="0"/>
                <a:ea typeface="Calibri" pitchFamily="34" charset="-122"/>
                <a:cs typeface="Calibri" pitchFamily="34" charset="-120"/>
              </a:rPr>
              <a:t>Ekip Üyeleri: [</a:t>
            </a:r>
            <a:r>
              <a:rPr lang="tr-TR" sz="1400" i="1" dirty="0">
                <a:solidFill>
                  <a:srgbClr val="A5D6A7"/>
                </a:solidFill>
                <a:latin typeface="Calibri" pitchFamily="34" charset="0"/>
                <a:ea typeface="Calibri" pitchFamily="34" charset="-122"/>
                <a:cs typeface="Calibri" pitchFamily="34" charset="-120"/>
              </a:rPr>
              <a:t>Nazmi Cirim , Latif Latif , </a:t>
            </a:r>
            <a:r>
              <a:rPr lang="tr-TR" sz="1400" i="1" dirty="0" err="1">
                <a:solidFill>
                  <a:srgbClr val="A5D6A7"/>
                </a:solidFill>
                <a:latin typeface="Calibri" pitchFamily="34" charset="0"/>
                <a:ea typeface="Calibri" pitchFamily="34" charset="-122"/>
                <a:cs typeface="Calibri" pitchFamily="34" charset="-120"/>
              </a:rPr>
              <a:t>Achmet</a:t>
            </a:r>
            <a:r>
              <a:rPr lang="tr-TR" sz="1400" i="1" dirty="0">
                <a:solidFill>
                  <a:srgbClr val="A5D6A7"/>
                </a:solidFill>
                <a:latin typeface="Calibri" pitchFamily="34" charset="0"/>
                <a:ea typeface="Calibri" pitchFamily="34" charset="-122"/>
                <a:cs typeface="Calibri" pitchFamily="34" charset="-120"/>
              </a:rPr>
              <a:t> </a:t>
            </a:r>
            <a:r>
              <a:rPr lang="tr-TR" sz="1400" i="1" dirty="0" err="1">
                <a:solidFill>
                  <a:srgbClr val="A5D6A7"/>
                </a:solidFill>
                <a:latin typeface="Calibri" pitchFamily="34" charset="0"/>
                <a:ea typeface="Calibri" pitchFamily="34" charset="-122"/>
                <a:cs typeface="Calibri" pitchFamily="34" charset="-120"/>
              </a:rPr>
              <a:t>Amet</a:t>
            </a:r>
            <a:r>
              <a:rPr lang="tr-TR" sz="1400" i="1" dirty="0">
                <a:solidFill>
                  <a:srgbClr val="A5D6A7"/>
                </a:solidFill>
                <a:latin typeface="Calibri" pitchFamily="34" charset="0"/>
                <a:ea typeface="Calibri" pitchFamily="34" charset="-122"/>
                <a:cs typeface="Calibri" pitchFamily="34" charset="-120"/>
              </a:rPr>
              <a:t>, Talha Yüksel</a:t>
            </a:r>
            <a:r>
              <a:rPr lang="en-US" sz="1400" i="1" dirty="0">
                <a:solidFill>
                  <a:srgbClr val="A5D6A7"/>
                </a:solidFill>
                <a:latin typeface="Calibri" pitchFamily="34" charset="0"/>
                <a:ea typeface="Calibri" pitchFamily="34" charset="-122"/>
                <a:cs typeface="Calibri" pitchFamily="34" charset="-120"/>
              </a:rPr>
              <a:t>]</a:t>
            </a:r>
            <a:endParaRPr lang="en-US" sz="1400" dirty="0"/>
          </a:p>
          <a:p>
            <a:pPr marL="0" indent="0" algn="ctr">
              <a:buNone/>
            </a:pPr>
            <a:r>
              <a:rPr lang="en-US" sz="1400" i="1" dirty="0" err="1">
                <a:solidFill>
                  <a:srgbClr val="A5D6A7"/>
                </a:solidFill>
                <a:latin typeface="Calibri" pitchFamily="34" charset="0"/>
                <a:ea typeface="Calibri" pitchFamily="34" charset="-122"/>
                <a:cs typeface="Calibri" pitchFamily="34" charset="-120"/>
              </a:rPr>
              <a:t>Danışman</a:t>
            </a:r>
            <a:r>
              <a:rPr lang="en-US" sz="1400" i="1" dirty="0">
                <a:solidFill>
                  <a:srgbClr val="A5D6A7"/>
                </a:solidFill>
                <a:latin typeface="Calibri" pitchFamily="34" charset="0"/>
                <a:ea typeface="Calibri" pitchFamily="34" charset="-122"/>
                <a:cs typeface="Calibri" pitchFamily="34" charset="-120"/>
              </a:rPr>
              <a:t>: [Dr. </a:t>
            </a:r>
            <a:r>
              <a:rPr lang="en-US" sz="1400" i="1" dirty="0" err="1">
                <a:solidFill>
                  <a:srgbClr val="A5D6A7"/>
                </a:solidFill>
                <a:latin typeface="Calibri" pitchFamily="34" charset="0"/>
                <a:ea typeface="Calibri" pitchFamily="34" charset="-122"/>
                <a:cs typeface="Calibri" pitchFamily="34" charset="-120"/>
              </a:rPr>
              <a:t>Öğr</a:t>
            </a:r>
            <a:r>
              <a:rPr lang="en-US" sz="1400" i="1" dirty="0">
                <a:solidFill>
                  <a:srgbClr val="A5D6A7"/>
                </a:solidFill>
                <a:latin typeface="Calibri" pitchFamily="34" charset="0"/>
                <a:ea typeface="Calibri" pitchFamily="34" charset="-122"/>
                <a:cs typeface="Calibri" pitchFamily="34" charset="-120"/>
              </a:rPr>
              <a:t>. </a:t>
            </a:r>
            <a:r>
              <a:rPr lang="en-US" sz="1400" i="1" dirty="0" err="1">
                <a:solidFill>
                  <a:srgbClr val="A5D6A7"/>
                </a:solidFill>
                <a:latin typeface="Calibri" pitchFamily="34" charset="0"/>
                <a:ea typeface="Calibri" pitchFamily="34" charset="-122"/>
                <a:cs typeface="Calibri" pitchFamily="34" charset="-120"/>
              </a:rPr>
              <a:t>Üyesi</a:t>
            </a:r>
            <a:r>
              <a:rPr lang="en-US" sz="1400" i="1" dirty="0">
                <a:solidFill>
                  <a:srgbClr val="A5D6A7"/>
                </a:solidFill>
                <a:latin typeface="Calibri" pitchFamily="34" charset="0"/>
                <a:ea typeface="Calibri" pitchFamily="34" charset="-122"/>
                <a:cs typeface="Calibri" pitchFamily="34" charset="-120"/>
              </a:rPr>
              <a:t> Ahmet KAŞİF]</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9F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B5E20"/>
          </a:solidFill>
          <a:ln/>
        </p:spPr>
      </p:sp>
      <p:sp>
        <p:nvSpPr>
          <p:cNvPr id="3" name="Text 1"/>
          <p:cNvSpPr/>
          <p:nvPr/>
        </p:nvSpPr>
        <p:spPr>
          <a:xfrm>
            <a:off x="457200" y="0"/>
            <a:ext cx="8229600" cy="73152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Problem Tanımı</a:t>
            </a:r>
            <a:endParaRPr lang="en-US" sz="3600" dirty="0"/>
          </a:p>
        </p:txBody>
      </p:sp>
      <p:sp>
        <p:nvSpPr>
          <p:cNvPr id="4" name="Text 2"/>
          <p:cNvSpPr/>
          <p:nvPr/>
        </p:nvSpPr>
        <p:spPr>
          <a:xfrm>
            <a:off x="640080" y="1097280"/>
            <a:ext cx="7863840" cy="3474720"/>
          </a:xfrm>
          <a:prstGeom prst="rect">
            <a:avLst/>
          </a:prstGeom>
          <a:noFill/>
          <a:ln/>
        </p:spPr>
        <p:txBody>
          <a:bodyPr wrap="square" rtlCol="0" anchor="t"/>
          <a:lstStyle/>
          <a:p>
            <a:pPr marL="342900" indent="-342900">
              <a:lnSpc>
                <a:spcPts val="3200"/>
              </a:lnSpc>
              <a:buSzPct val="100000"/>
              <a:buChar char="•"/>
            </a:pPr>
            <a:r>
              <a:rPr lang="en-US" sz="1400" dirty="0">
                <a:solidFill>
                  <a:srgbClr val="1E1E1E"/>
                </a:solidFill>
                <a:latin typeface="Calibri" pitchFamily="34" charset="0"/>
                <a:ea typeface="Calibri" pitchFamily="34" charset="-122"/>
                <a:cs typeface="Calibri" pitchFamily="34" charset="-120"/>
              </a:rPr>
              <a:t>Topraklı tarımda bitkilerin ihtiyaç duyduğu ışık miktarı manuel yönetimde zorluklara sebep olmakta</a:t>
            </a:r>
            <a:endParaRPr lang="en-US" sz="1400" dirty="0"/>
          </a:p>
          <a:p>
            <a:pPr marL="342900" indent="-342900">
              <a:lnSpc>
                <a:spcPts val="3200"/>
              </a:lnSpc>
              <a:buSzPct val="100000"/>
              <a:buChar char="•"/>
            </a:pPr>
            <a:r>
              <a:rPr lang="en-US" sz="1400" dirty="0">
                <a:solidFill>
                  <a:srgbClr val="1E1E1E"/>
                </a:solidFill>
                <a:latin typeface="Calibri" pitchFamily="34" charset="0"/>
                <a:ea typeface="Calibri" pitchFamily="34" charset="-122"/>
                <a:cs typeface="Calibri" pitchFamily="34" charset="-120"/>
              </a:rPr>
              <a:t>Yetersiz veya aşırı ışık bitki gelişimini olumsuz etkilemekte</a:t>
            </a:r>
            <a:endParaRPr lang="en-US" sz="1400" dirty="0"/>
          </a:p>
          <a:p>
            <a:pPr marL="342900" indent="-342900">
              <a:lnSpc>
                <a:spcPts val="3200"/>
              </a:lnSpc>
              <a:buSzPct val="100000"/>
              <a:buChar char="•"/>
            </a:pPr>
            <a:r>
              <a:rPr lang="en-US" sz="1400" dirty="0">
                <a:solidFill>
                  <a:srgbClr val="1E1E1E"/>
                </a:solidFill>
                <a:latin typeface="Calibri" pitchFamily="34" charset="0"/>
                <a:ea typeface="Calibri" pitchFamily="34" charset="-122"/>
                <a:cs typeface="Calibri" pitchFamily="34" charset="-120"/>
              </a:rPr>
              <a:t>Enerji kaybı ve verimsiz ışıklandırma pratiklerinin söz konusu olması</a:t>
            </a:r>
            <a:endParaRPr lang="en-US" sz="1400" dirty="0"/>
          </a:p>
          <a:p>
            <a:pPr marL="342900" indent="-342900">
              <a:lnSpc>
                <a:spcPts val="3200"/>
              </a:lnSpc>
              <a:buSzPct val="100000"/>
              <a:buChar char="•"/>
            </a:pPr>
            <a:r>
              <a:rPr lang="en-US" sz="1400" dirty="0">
                <a:solidFill>
                  <a:srgbClr val="1E1E1E"/>
                </a:solidFill>
                <a:latin typeface="Calibri" pitchFamily="34" charset="0"/>
                <a:ea typeface="Calibri" pitchFamily="34" charset="-122"/>
                <a:cs typeface="Calibri" pitchFamily="34" charset="-120"/>
              </a:rPr>
              <a:t>Otomatikleştirilmiş, sensör tabanlı kontrol sisteminin gerekliliği</a:t>
            </a:r>
            <a:endParaRPr lang="en-US" sz="1400" dirty="0"/>
          </a:p>
        </p:txBody>
      </p:sp>
      <p:sp>
        <p:nvSpPr>
          <p:cNvPr id="5" name="Shape 3"/>
          <p:cNvSpPr/>
          <p:nvPr/>
        </p:nvSpPr>
        <p:spPr>
          <a:xfrm>
            <a:off x="457200" y="1097280"/>
            <a:ext cx="137160" cy="3474720"/>
          </a:xfrm>
          <a:prstGeom prst="rect">
            <a:avLst/>
          </a:prstGeom>
          <a:solidFill>
            <a:srgbClr val="27AE60"/>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9F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B5E20"/>
          </a:solidFill>
          <a:ln/>
        </p:spPr>
      </p:sp>
      <p:sp>
        <p:nvSpPr>
          <p:cNvPr id="3" name="Text 1"/>
          <p:cNvSpPr/>
          <p:nvPr/>
        </p:nvSpPr>
        <p:spPr>
          <a:xfrm>
            <a:off x="457200" y="0"/>
            <a:ext cx="8229600" cy="73152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Projenin Amacı</a:t>
            </a:r>
            <a:endParaRPr lang="en-US" sz="3600" dirty="0"/>
          </a:p>
        </p:txBody>
      </p:sp>
      <p:sp>
        <p:nvSpPr>
          <p:cNvPr id="4" name="Text 2"/>
          <p:cNvSpPr/>
          <p:nvPr/>
        </p:nvSpPr>
        <p:spPr>
          <a:xfrm>
            <a:off x="640080" y="1097280"/>
            <a:ext cx="7863840" cy="3474720"/>
          </a:xfrm>
          <a:prstGeom prst="rect">
            <a:avLst/>
          </a:prstGeom>
          <a:noFill/>
          <a:ln/>
        </p:spPr>
        <p:txBody>
          <a:bodyPr wrap="square" rtlCol="0" anchor="t"/>
          <a:lstStyle/>
          <a:p>
            <a:pPr marL="342900" indent="-342900">
              <a:lnSpc>
                <a:spcPts val="3000"/>
              </a:lnSpc>
              <a:buSzPct val="100000"/>
              <a:buChar char="•"/>
            </a:pPr>
            <a:r>
              <a:rPr lang="en-US" sz="1400" dirty="0">
                <a:solidFill>
                  <a:srgbClr val="1E1E1E"/>
                </a:solidFill>
                <a:latin typeface="Calibri" pitchFamily="34" charset="0"/>
                <a:ea typeface="Calibri" pitchFamily="34" charset="-122"/>
                <a:cs typeface="Calibri" pitchFamily="34" charset="-120"/>
              </a:rPr>
              <a:t>Ortam ışık seviyesini BH1750 sensörü ile ölçerek otomatik kontrolü sağlamak</a:t>
            </a:r>
            <a:endParaRPr lang="en-US" sz="1400" dirty="0"/>
          </a:p>
          <a:p>
            <a:pPr marL="342900" indent="-342900">
              <a:lnSpc>
                <a:spcPts val="3000"/>
              </a:lnSpc>
              <a:buSzPct val="100000"/>
              <a:buChar char="•"/>
            </a:pPr>
            <a:r>
              <a:rPr lang="en-US" sz="1400" dirty="0">
                <a:solidFill>
                  <a:srgbClr val="1E1E1E"/>
                </a:solidFill>
                <a:latin typeface="Calibri" pitchFamily="34" charset="0"/>
                <a:ea typeface="Calibri" pitchFamily="34" charset="-122"/>
                <a:cs typeface="Calibri" pitchFamily="34" charset="-120"/>
              </a:rPr>
              <a:t>Seçilen bitki türüne uygun hedef lux değerine göre LED aydınlatmayı yönetmek</a:t>
            </a:r>
            <a:endParaRPr lang="en-US" sz="1400" dirty="0"/>
          </a:p>
          <a:p>
            <a:pPr marL="342900" indent="-342900">
              <a:lnSpc>
                <a:spcPts val="3000"/>
              </a:lnSpc>
              <a:buSzPct val="100000"/>
              <a:buChar char="•"/>
            </a:pPr>
            <a:r>
              <a:rPr lang="en-US" sz="1400" dirty="0">
                <a:solidFill>
                  <a:srgbClr val="1E1E1E"/>
                </a:solidFill>
                <a:latin typeface="Calibri" pitchFamily="34" charset="0"/>
                <a:ea typeface="Calibri" pitchFamily="34" charset="-122"/>
                <a:cs typeface="Calibri" pitchFamily="34" charset="-120"/>
              </a:rPr>
              <a:t>Web tabanlı panel üzerinden manuel kontrol ve bitki seçimi imkânı sunmak</a:t>
            </a:r>
            <a:endParaRPr lang="en-US" sz="1400" dirty="0"/>
          </a:p>
          <a:p>
            <a:pPr marL="342900" indent="-342900">
              <a:lnSpc>
                <a:spcPts val="3000"/>
              </a:lnSpc>
              <a:buSzPct val="100000"/>
              <a:buChar char="•"/>
            </a:pPr>
            <a:r>
              <a:rPr lang="en-US" sz="1400" dirty="0">
                <a:solidFill>
                  <a:srgbClr val="1E1E1E"/>
                </a:solidFill>
                <a:latin typeface="Calibri" pitchFamily="34" charset="0"/>
                <a:ea typeface="Calibri" pitchFamily="34" charset="-122"/>
                <a:cs typeface="Calibri" pitchFamily="34" charset="-120"/>
              </a:rPr>
              <a:t>Yapay zekâ (Decision Tree) kullanarak karar destek sistemi oluşturmak</a:t>
            </a:r>
            <a:endParaRPr lang="en-US" sz="1400" dirty="0"/>
          </a:p>
          <a:p>
            <a:pPr marL="342900" indent="-342900">
              <a:lnSpc>
                <a:spcPts val="3000"/>
              </a:lnSpc>
              <a:buSzPct val="100000"/>
              <a:buChar char="•"/>
            </a:pPr>
            <a:r>
              <a:rPr lang="en-US" sz="1400" dirty="0">
                <a:solidFill>
                  <a:srgbClr val="1E1E1E"/>
                </a:solidFill>
                <a:latin typeface="Calibri" pitchFamily="34" charset="0"/>
                <a:ea typeface="Calibri" pitchFamily="34" charset="-122"/>
                <a:cs typeface="Calibri" pitchFamily="34" charset="-120"/>
              </a:rPr>
              <a:t>Hava durumu bilgisini sisteme entegre ederek bağlamsal veriler sağlamak</a:t>
            </a:r>
            <a:endParaRPr lang="en-US" sz="1400" dirty="0"/>
          </a:p>
        </p:txBody>
      </p:sp>
      <p:sp>
        <p:nvSpPr>
          <p:cNvPr id="5" name="Shape 3"/>
          <p:cNvSpPr/>
          <p:nvPr/>
        </p:nvSpPr>
        <p:spPr>
          <a:xfrm>
            <a:off x="457200" y="1097280"/>
            <a:ext cx="137160" cy="3474720"/>
          </a:xfrm>
          <a:prstGeom prst="rect">
            <a:avLst/>
          </a:prstGeom>
          <a:solidFill>
            <a:srgbClr val="27AE60"/>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9F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B5E20"/>
          </a:solidFill>
          <a:ln/>
        </p:spPr>
      </p:sp>
      <p:sp>
        <p:nvSpPr>
          <p:cNvPr id="3" name="Text 1"/>
          <p:cNvSpPr/>
          <p:nvPr/>
        </p:nvSpPr>
        <p:spPr>
          <a:xfrm>
            <a:off x="457200" y="0"/>
            <a:ext cx="8229600" cy="73152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Sistem Mimarisi</a:t>
            </a:r>
            <a:endParaRPr lang="en-US" sz="3600" dirty="0"/>
          </a:p>
        </p:txBody>
      </p:sp>
      <p:sp>
        <p:nvSpPr>
          <p:cNvPr id="4" name="Text 2"/>
          <p:cNvSpPr/>
          <p:nvPr/>
        </p:nvSpPr>
        <p:spPr>
          <a:xfrm>
            <a:off x="457200" y="914400"/>
            <a:ext cx="4114800" cy="320040"/>
          </a:xfrm>
          <a:prstGeom prst="rect">
            <a:avLst/>
          </a:prstGeom>
          <a:noFill/>
          <a:ln/>
        </p:spPr>
        <p:txBody>
          <a:bodyPr wrap="square" rtlCol="0" anchor="ctr"/>
          <a:lstStyle/>
          <a:p>
            <a:pPr marL="0" indent="0">
              <a:buNone/>
            </a:pPr>
            <a:r>
              <a:rPr lang="en-US" sz="1400" b="1" dirty="0">
                <a:solidFill>
                  <a:srgbClr val="1B5E20"/>
                </a:solidFill>
                <a:latin typeface="Calibri" pitchFamily="34" charset="0"/>
                <a:ea typeface="Calibri" pitchFamily="34" charset="-122"/>
                <a:cs typeface="Calibri" pitchFamily="34" charset="-120"/>
              </a:rPr>
              <a:t>Ana Bileşenler:</a:t>
            </a:r>
            <a:endParaRPr lang="en-US" sz="1400" dirty="0"/>
          </a:p>
        </p:txBody>
      </p:sp>
      <p:sp>
        <p:nvSpPr>
          <p:cNvPr id="5" name="Text 3"/>
          <p:cNvSpPr/>
          <p:nvPr/>
        </p:nvSpPr>
        <p:spPr>
          <a:xfrm>
            <a:off x="457200" y="1325880"/>
            <a:ext cx="4114800" cy="3200400"/>
          </a:xfrm>
          <a:prstGeom prst="rect">
            <a:avLst/>
          </a:prstGeom>
          <a:noFill/>
          <a:ln/>
        </p:spPr>
        <p:txBody>
          <a:bodyPr wrap="square" rtlCol="0" anchor="t"/>
          <a:lstStyle/>
          <a:p>
            <a:pPr marL="342900" indent="-342900">
              <a:lnSpc>
                <a:spcPts val="2800"/>
              </a:lnSpc>
              <a:buSzPct val="100000"/>
              <a:buChar char="•"/>
            </a:pPr>
            <a:r>
              <a:rPr lang="en-US" sz="1200" dirty="0">
                <a:solidFill>
                  <a:srgbClr val="1E1E1E"/>
                </a:solidFill>
                <a:latin typeface="Calibri" pitchFamily="34" charset="0"/>
                <a:ea typeface="Calibri" pitchFamily="34" charset="-122"/>
                <a:cs typeface="Calibri" pitchFamily="34" charset="-120"/>
              </a:rPr>
              <a:t>NodeMCU ESP8266 (Ana Kontrolör)</a:t>
            </a:r>
            <a:endParaRPr lang="en-US" sz="1200" dirty="0"/>
          </a:p>
          <a:p>
            <a:pPr marL="342900" indent="-342900">
              <a:lnSpc>
                <a:spcPts val="2800"/>
              </a:lnSpc>
              <a:buSzPct val="100000"/>
              <a:buChar char="•"/>
            </a:pPr>
            <a:r>
              <a:rPr lang="en-US" sz="1200" dirty="0">
                <a:solidFill>
                  <a:srgbClr val="1E1E1E"/>
                </a:solidFill>
                <a:latin typeface="Calibri" pitchFamily="34" charset="0"/>
                <a:ea typeface="Calibri" pitchFamily="34" charset="-122"/>
                <a:cs typeface="Calibri" pitchFamily="34" charset="-120"/>
              </a:rPr>
              <a:t>BH1750 Lux Sensörü</a:t>
            </a:r>
            <a:endParaRPr lang="en-US" sz="1200" dirty="0"/>
          </a:p>
          <a:p>
            <a:pPr marL="342900" indent="-342900">
              <a:lnSpc>
                <a:spcPts val="2800"/>
              </a:lnSpc>
              <a:buSzPct val="100000"/>
              <a:buChar char="•"/>
            </a:pPr>
            <a:r>
              <a:rPr lang="en-US" sz="1200" dirty="0">
                <a:solidFill>
                  <a:srgbClr val="1E1E1E"/>
                </a:solidFill>
                <a:latin typeface="Calibri" pitchFamily="34" charset="0"/>
                <a:ea typeface="Calibri" pitchFamily="34" charset="-122"/>
                <a:cs typeface="Calibri" pitchFamily="34" charset="-120"/>
              </a:rPr>
              <a:t>Röle Modülü + LED Şerit</a:t>
            </a:r>
            <a:endParaRPr lang="en-US" sz="1200" dirty="0"/>
          </a:p>
          <a:p>
            <a:pPr marL="342900" indent="-342900">
              <a:lnSpc>
                <a:spcPts val="2800"/>
              </a:lnSpc>
              <a:buSzPct val="100000"/>
              <a:buChar char="•"/>
            </a:pPr>
            <a:r>
              <a:rPr lang="en-US" sz="1200" dirty="0">
                <a:solidFill>
                  <a:srgbClr val="1E1E1E"/>
                </a:solidFill>
                <a:latin typeface="Calibri" pitchFamily="34" charset="0"/>
                <a:ea typeface="Calibri" pitchFamily="34" charset="-122"/>
                <a:cs typeface="Calibri" pitchFamily="34" charset="-120"/>
              </a:rPr>
              <a:t>Mosquitto MQTT Broker</a:t>
            </a:r>
            <a:endParaRPr lang="en-US" sz="1200" dirty="0"/>
          </a:p>
          <a:p>
            <a:pPr marL="342900" indent="-342900">
              <a:lnSpc>
                <a:spcPts val="2800"/>
              </a:lnSpc>
              <a:buSzPct val="100000"/>
              <a:buChar char="•"/>
            </a:pPr>
            <a:r>
              <a:rPr lang="en-US" sz="1200" dirty="0">
                <a:solidFill>
                  <a:srgbClr val="1E1E1E"/>
                </a:solidFill>
                <a:latin typeface="Calibri" pitchFamily="34" charset="0"/>
                <a:ea typeface="Calibri" pitchFamily="34" charset="-122"/>
                <a:cs typeface="Calibri" pitchFamily="34" charset="-120"/>
              </a:rPr>
              <a:t>Flask Web Paneli</a:t>
            </a:r>
            <a:endParaRPr lang="en-US" sz="1200" dirty="0"/>
          </a:p>
          <a:p>
            <a:pPr marL="342900" indent="-342900">
              <a:lnSpc>
                <a:spcPts val="2800"/>
              </a:lnSpc>
              <a:buSzPct val="100000"/>
              <a:buChar char="•"/>
            </a:pPr>
            <a:r>
              <a:rPr lang="en-US" sz="1200" dirty="0">
                <a:solidFill>
                  <a:srgbClr val="1E1E1E"/>
                </a:solidFill>
                <a:latin typeface="Calibri" pitchFamily="34" charset="0"/>
                <a:ea typeface="Calibri" pitchFamily="34" charset="-122"/>
                <a:cs typeface="Calibri" pitchFamily="34" charset="-120"/>
              </a:rPr>
              <a:t>SQLite Veritabanı</a:t>
            </a:r>
            <a:endParaRPr lang="en-US" sz="1200" dirty="0"/>
          </a:p>
          <a:p>
            <a:pPr marL="342900" indent="-342900">
              <a:lnSpc>
                <a:spcPts val="2800"/>
              </a:lnSpc>
              <a:buSzPct val="100000"/>
              <a:buChar char="•"/>
            </a:pPr>
            <a:r>
              <a:rPr lang="en-US" sz="1200" dirty="0">
                <a:solidFill>
                  <a:srgbClr val="1E1E1E"/>
                </a:solidFill>
                <a:latin typeface="Calibri" pitchFamily="34" charset="0"/>
                <a:ea typeface="Calibri" pitchFamily="34" charset="-122"/>
                <a:cs typeface="Calibri" pitchFamily="34" charset="-120"/>
              </a:rPr>
              <a:t>Decision Tree ML Modeli</a:t>
            </a:r>
            <a:endParaRPr lang="en-US" sz="1200" dirty="0"/>
          </a:p>
        </p:txBody>
      </p:sp>
      <p:sp>
        <p:nvSpPr>
          <p:cNvPr id="6" name="Text 4"/>
          <p:cNvSpPr/>
          <p:nvPr/>
        </p:nvSpPr>
        <p:spPr>
          <a:xfrm>
            <a:off x="4846320" y="914400"/>
            <a:ext cx="3840480" cy="320040"/>
          </a:xfrm>
          <a:prstGeom prst="rect">
            <a:avLst/>
          </a:prstGeom>
          <a:noFill/>
          <a:ln/>
        </p:spPr>
        <p:txBody>
          <a:bodyPr wrap="square" rtlCol="0" anchor="ctr"/>
          <a:lstStyle/>
          <a:p>
            <a:pPr marL="0" indent="0">
              <a:buNone/>
            </a:pPr>
            <a:r>
              <a:rPr lang="en-US" sz="1400" b="1" dirty="0">
                <a:solidFill>
                  <a:srgbClr val="1B5E20"/>
                </a:solidFill>
                <a:latin typeface="Calibri" pitchFamily="34" charset="0"/>
                <a:ea typeface="Calibri" pitchFamily="34" charset="-122"/>
                <a:cs typeface="Calibri" pitchFamily="34" charset="-120"/>
              </a:rPr>
              <a:t>Veri Akışı:</a:t>
            </a:r>
            <a:endParaRPr lang="en-US" sz="1400" dirty="0"/>
          </a:p>
        </p:txBody>
      </p:sp>
      <p:sp>
        <p:nvSpPr>
          <p:cNvPr id="7" name="Shape 5"/>
          <p:cNvSpPr/>
          <p:nvPr/>
        </p:nvSpPr>
        <p:spPr>
          <a:xfrm>
            <a:off x="4846320" y="1371600"/>
            <a:ext cx="1645920" cy="365760"/>
          </a:xfrm>
          <a:prstGeom prst="rect">
            <a:avLst/>
          </a:prstGeom>
          <a:solidFill>
            <a:srgbClr val="27AE60"/>
          </a:solidFill>
          <a:ln/>
        </p:spPr>
      </p:sp>
      <p:sp>
        <p:nvSpPr>
          <p:cNvPr id="8" name="Text 6"/>
          <p:cNvSpPr/>
          <p:nvPr/>
        </p:nvSpPr>
        <p:spPr>
          <a:xfrm>
            <a:off x="4846320" y="1371600"/>
            <a:ext cx="164592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Sensör</a:t>
            </a:r>
            <a:endParaRPr lang="en-US" sz="1100" dirty="0"/>
          </a:p>
        </p:txBody>
      </p:sp>
      <p:sp>
        <p:nvSpPr>
          <p:cNvPr id="9" name="Shape 7"/>
          <p:cNvSpPr/>
          <p:nvPr/>
        </p:nvSpPr>
        <p:spPr>
          <a:xfrm>
            <a:off x="5669280" y="1737360"/>
            <a:ext cx="0" cy="457200"/>
          </a:xfrm>
          <a:prstGeom prst="line">
            <a:avLst/>
          </a:prstGeom>
          <a:noFill/>
          <a:ln w="25400">
            <a:solidFill>
              <a:srgbClr val="27AE60"/>
            </a:solidFill>
            <a:prstDash val="solid"/>
          </a:ln>
        </p:spPr>
      </p:sp>
      <p:sp>
        <p:nvSpPr>
          <p:cNvPr id="10" name="Shape 8"/>
          <p:cNvSpPr/>
          <p:nvPr/>
        </p:nvSpPr>
        <p:spPr>
          <a:xfrm>
            <a:off x="4846320" y="2194560"/>
            <a:ext cx="1645920" cy="365760"/>
          </a:xfrm>
          <a:prstGeom prst="rect">
            <a:avLst/>
          </a:prstGeom>
          <a:solidFill>
            <a:srgbClr val="27AE60"/>
          </a:solidFill>
          <a:ln/>
        </p:spPr>
      </p:sp>
      <p:sp>
        <p:nvSpPr>
          <p:cNvPr id="11" name="Text 9"/>
          <p:cNvSpPr/>
          <p:nvPr/>
        </p:nvSpPr>
        <p:spPr>
          <a:xfrm>
            <a:off x="4846320" y="2194560"/>
            <a:ext cx="164592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MQTT</a:t>
            </a:r>
            <a:endParaRPr lang="en-US" sz="1100" dirty="0"/>
          </a:p>
        </p:txBody>
      </p:sp>
      <p:sp>
        <p:nvSpPr>
          <p:cNvPr id="12" name="Shape 10"/>
          <p:cNvSpPr/>
          <p:nvPr/>
        </p:nvSpPr>
        <p:spPr>
          <a:xfrm>
            <a:off x="5669280" y="2560320"/>
            <a:ext cx="0" cy="457200"/>
          </a:xfrm>
          <a:prstGeom prst="line">
            <a:avLst/>
          </a:prstGeom>
          <a:noFill/>
          <a:ln w="25400">
            <a:solidFill>
              <a:srgbClr val="27AE60"/>
            </a:solidFill>
            <a:prstDash val="solid"/>
          </a:ln>
        </p:spPr>
      </p:sp>
      <p:sp>
        <p:nvSpPr>
          <p:cNvPr id="13" name="Shape 11"/>
          <p:cNvSpPr/>
          <p:nvPr/>
        </p:nvSpPr>
        <p:spPr>
          <a:xfrm>
            <a:off x="4846320" y="3017520"/>
            <a:ext cx="1645920" cy="365760"/>
          </a:xfrm>
          <a:prstGeom prst="rect">
            <a:avLst/>
          </a:prstGeom>
          <a:solidFill>
            <a:srgbClr val="27AE60"/>
          </a:solidFill>
          <a:ln/>
        </p:spPr>
      </p:sp>
      <p:sp>
        <p:nvSpPr>
          <p:cNvPr id="14" name="Text 12"/>
          <p:cNvSpPr/>
          <p:nvPr/>
        </p:nvSpPr>
        <p:spPr>
          <a:xfrm>
            <a:off x="4846320" y="3017520"/>
            <a:ext cx="164592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Flask Panel</a:t>
            </a:r>
            <a:endParaRPr lang="en-US" sz="1100" dirty="0"/>
          </a:p>
        </p:txBody>
      </p:sp>
      <p:sp>
        <p:nvSpPr>
          <p:cNvPr id="15" name="Shape 13"/>
          <p:cNvSpPr/>
          <p:nvPr/>
        </p:nvSpPr>
        <p:spPr>
          <a:xfrm>
            <a:off x="5669280" y="3383280"/>
            <a:ext cx="0" cy="457200"/>
          </a:xfrm>
          <a:prstGeom prst="line">
            <a:avLst/>
          </a:prstGeom>
          <a:noFill/>
          <a:ln w="25400">
            <a:solidFill>
              <a:srgbClr val="27AE60"/>
            </a:solidFill>
            <a:prstDash val="solid"/>
          </a:ln>
        </p:spPr>
      </p:sp>
      <p:sp>
        <p:nvSpPr>
          <p:cNvPr id="16" name="Shape 14"/>
          <p:cNvSpPr/>
          <p:nvPr/>
        </p:nvSpPr>
        <p:spPr>
          <a:xfrm>
            <a:off x="4846320" y="3840480"/>
            <a:ext cx="1645920" cy="365760"/>
          </a:xfrm>
          <a:prstGeom prst="rect">
            <a:avLst/>
          </a:prstGeom>
          <a:solidFill>
            <a:srgbClr val="27AE60"/>
          </a:solidFill>
          <a:ln/>
        </p:spPr>
      </p:sp>
      <p:sp>
        <p:nvSpPr>
          <p:cNvPr id="17" name="Text 15"/>
          <p:cNvSpPr/>
          <p:nvPr/>
        </p:nvSpPr>
        <p:spPr>
          <a:xfrm>
            <a:off x="4846320" y="3840480"/>
            <a:ext cx="164592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Karar &amp; Kontrol</a:t>
            </a:r>
            <a:endParaRPr lang="en-US" sz="1100" dirty="0"/>
          </a:p>
        </p:txBody>
      </p:sp>
      <p:sp>
        <p:nvSpPr>
          <p:cNvPr id="19" name="Text 17"/>
          <p:cNvSpPr/>
          <p:nvPr/>
        </p:nvSpPr>
        <p:spPr>
          <a:xfrm>
            <a:off x="6675120" y="2743200"/>
            <a:ext cx="2011680" cy="457200"/>
          </a:xfrm>
          <a:prstGeom prst="rect">
            <a:avLst/>
          </a:prstGeom>
          <a:noFill/>
          <a:ln/>
        </p:spPr>
        <p:txBody>
          <a:bodyPr wrap="square" rtlCol="0" anchor="ctr"/>
          <a:lstStyle/>
          <a:p>
            <a:pPr marL="0" indent="0" algn="ctr">
              <a:buNone/>
            </a:pP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9F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B5E20"/>
          </a:solidFill>
          <a:ln/>
        </p:spPr>
      </p:sp>
      <p:sp>
        <p:nvSpPr>
          <p:cNvPr id="3" name="Text 1"/>
          <p:cNvSpPr/>
          <p:nvPr/>
        </p:nvSpPr>
        <p:spPr>
          <a:xfrm>
            <a:off x="457200" y="0"/>
            <a:ext cx="8229600" cy="73152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Donanım Bileşenleri</a:t>
            </a:r>
            <a:endParaRPr lang="en-US" sz="3600" dirty="0"/>
          </a:p>
        </p:txBody>
      </p:sp>
      <p:sp>
        <p:nvSpPr>
          <p:cNvPr id="4" name="Shape 2"/>
          <p:cNvSpPr/>
          <p:nvPr/>
        </p:nvSpPr>
        <p:spPr>
          <a:xfrm>
            <a:off x="457200" y="1097280"/>
            <a:ext cx="2286000" cy="777240"/>
          </a:xfrm>
          <a:prstGeom prst="roundRect">
            <a:avLst>
              <a:gd name="adj" fmla="val 11765"/>
            </a:avLst>
          </a:prstGeom>
          <a:solidFill>
            <a:srgbClr val="FFFFFF"/>
          </a:solidFill>
          <a:ln w="25400">
            <a:solidFill>
              <a:srgbClr val="27AE60"/>
            </a:solidFill>
            <a:prstDash val="solid"/>
          </a:ln>
        </p:spPr>
      </p:sp>
      <p:sp>
        <p:nvSpPr>
          <p:cNvPr id="5" name="Text 3"/>
          <p:cNvSpPr/>
          <p:nvPr/>
        </p:nvSpPr>
        <p:spPr>
          <a:xfrm>
            <a:off x="548640" y="1143000"/>
            <a:ext cx="2103120" cy="685800"/>
          </a:xfrm>
          <a:prstGeom prst="rect">
            <a:avLst/>
          </a:prstGeom>
          <a:noFill/>
          <a:ln/>
        </p:spPr>
        <p:txBody>
          <a:bodyPr wrap="square" rtlCol="0" anchor="ctr"/>
          <a:lstStyle/>
          <a:p>
            <a:pPr marL="0" indent="0" algn="ctr">
              <a:buNone/>
            </a:pPr>
            <a:r>
              <a:rPr lang="en-US" sz="1100" dirty="0">
                <a:solidFill>
                  <a:srgbClr val="1E1E1E"/>
                </a:solidFill>
                <a:latin typeface="Calibri" pitchFamily="34" charset="0"/>
                <a:ea typeface="Calibri" pitchFamily="34" charset="-122"/>
                <a:cs typeface="Calibri" pitchFamily="34" charset="-120"/>
              </a:rPr>
              <a:t>NodeMCU ESP8266</a:t>
            </a:r>
            <a:endParaRPr lang="en-US" sz="1100" dirty="0"/>
          </a:p>
          <a:p>
            <a:pPr marL="0" indent="0" algn="ctr">
              <a:buNone/>
            </a:pPr>
            <a:r>
              <a:rPr lang="en-US" sz="1100" dirty="0">
                <a:solidFill>
                  <a:srgbClr val="1E1E1E"/>
                </a:solidFill>
                <a:latin typeface="Calibri" pitchFamily="34" charset="0"/>
                <a:ea typeface="Calibri" pitchFamily="34" charset="-122"/>
                <a:cs typeface="Calibri" pitchFamily="34" charset="-120"/>
              </a:rPr>
              <a:t>(WiFi, 16MB Flash)</a:t>
            </a:r>
            <a:endParaRPr lang="en-US" sz="1100" dirty="0"/>
          </a:p>
        </p:txBody>
      </p:sp>
      <p:sp>
        <p:nvSpPr>
          <p:cNvPr id="6" name="Shape 4"/>
          <p:cNvSpPr/>
          <p:nvPr/>
        </p:nvSpPr>
        <p:spPr>
          <a:xfrm>
            <a:off x="457200" y="2011680"/>
            <a:ext cx="2286000" cy="777240"/>
          </a:xfrm>
          <a:prstGeom prst="roundRect">
            <a:avLst>
              <a:gd name="adj" fmla="val 11765"/>
            </a:avLst>
          </a:prstGeom>
          <a:solidFill>
            <a:srgbClr val="FFFFFF"/>
          </a:solidFill>
          <a:ln w="25400">
            <a:solidFill>
              <a:srgbClr val="27AE60"/>
            </a:solidFill>
            <a:prstDash val="solid"/>
          </a:ln>
        </p:spPr>
      </p:sp>
      <p:sp>
        <p:nvSpPr>
          <p:cNvPr id="7" name="Text 5"/>
          <p:cNvSpPr/>
          <p:nvPr/>
        </p:nvSpPr>
        <p:spPr>
          <a:xfrm>
            <a:off x="548640" y="2057400"/>
            <a:ext cx="2103120" cy="685800"/>
          </a:xfrm>
          <a:prstGeom prst="rect">
            <a:avLst/>
          </a:prstGeom>
          <a:noFill/>
          <a:ln/>
        </p:spPr>
        <p:txBody>
          <a:bodyPr wrap="square" rtlCol="0" anchor="ctr"/>
          <a:lstStyle/>
          <a:p>
            <a:pPr marL="0" indent="0" algn="ctr">
              <a:buNone/>
            </a:pPr>
            <a:r>
              <a:rPr lang="en-US" sz="1100" dirty="0">
                <a:solidFill>
                  <a:srgbClr val="1E1E1E"/>
                </a:solidFill>
                <a:latin typeface="Calibri" pitchFamily="34" charset="0"/>
                <a:ea typeface="Calibri" pitchFamily="34" charset="-122"/>
                <a:cs typeface="Calibri" pitchFamily="34" charset="-120"/>
              </a:rPr>
              <a:t>BH1750 Dijital Lux Sensörü</a:t>
            </a:r>
            <a:endParaRPr lang="en-US" sz="1100" dirty="0"/>
          </a:p>
          <a:p>
            <a:pPr marL="0" indent="0" algn="ctr">
              <a:buNone/>
            </a:pPr>
            <a:r>
              <a:rPr lang="en-US" sz="1100" dirty="0">
                <a:solidFill>
                  <a:srgbClr val="1E1E1E"/>
                </a:solidFill>
                <a:latin typeface="Calibri" pitchFamily="34" charset="0"/>
                <a:ea typeface="Calibri" pitchFamily="34" charset="-122"/>
                <a:cs typeface="Calibri" pitchFamily="34" charset="-120"/>
              </a:rPr>
              <a:t>(I2C Iletişim)</a:t>
            </a:r>
            <a:endParaRPr lang="en-US" sz="1100" dirty="0"/>
          </a:p>
        </p:txBody>
      </p:sp>
      <p:sp>
        <p:nvSpPr>
          <p:cNvPr id="8" name="Shape 6"/>
          <p:cNvSpPr/>
          <p:nvPr/>
        </p:nvSpPr>
        <p:spPr>
          <a:xfrm>
            <a:off x="457200" y="2926080"/>
            <a:ext cx="2286000" cy="777240"/>
          </a:xfrm>
          <a:prstGeom prst="roundRect">
            <a:avLst>
              <a:gd name="adj" fmla="val 11765"/>
            </a:avLst>
          </a:prstGeom>
          <a:solidFill>
            <a:srgbClr val="FFFFFF"/>
          </a:solidFill>
          <a:ln w="25400">
            <a:solidFill>
              <a:srgbClr val="27AE60"/>
            </a:solidFill>
            <a:prstDash val="solid"/>
          </a:ln>
        </p:spPr>
      </p:sp>
      <p:sp>
        <p:nvSpPr>
          <p:cNvPr id="9" name="Text 7"/>
          <p:cNvSpPr/>
          <p:nvPr/>
        </p:nvSpPr>
        <p:spPr>
          <a:xfrm>
            <a:off x="548640" y="2971800"/>
            <a:ext cx="2103120" cy="685800"/>
          </a:xfrm>
          <a:prstGeom prst="rect">
            <a:avLst/>
          </a:prstGeom>
          <a:noFill/>
          <a:ln/>
        </p:spPr>
        <p:txBody>
          <a:bodyPr wrap="square" rtlCol="0" anchor="ctr"/>
          <a:lstStyle/>
          <a:p>
            <a:pPr marL="0" indent="0" algn="ctr">
              <a:buNone/>
            </a:pPr>
            <a:r>
              <a:rPr lang="en-US" sz="1100" dirty="0">
                <a:solidFill>
                  <a:srgbClr val="1E1E1E"/>
                </a:solidFill>
                <a:latin typeface="Calibri" pitchFamily="34" charset="0"/>
                <a:ea typeface="Calibri" pitchFamily="34" charset="-122"/>
                <a:cs typeface="Calibri" pitchFamily="34" charset="-120"/>
              </a:rPr>
              <a:t>12V Full Spectrum LED Şerit</a:t>
            </a:r>
            <a:endParaRPr lang="en-US" sz="1100" dirty="0"/>
          </a:p>
          <a:p>
            <a:pPr marL="0" indent="0" algn="ctr">
              <a:buNone/>
            </a:pPr>
            <a:r>
              <a:rPr lang="en-US" sz="1100" dirty="0">
                <a:solidFill>
                  <a:srgbClr val="1E1E1E"/>
                </a:solidFill>
                <a:latin typeface="Calibri" pitchFamily="34" charset="0"/>
                <a:ea typeface="Calibri" pitchFamily="34" charset="-122"/>
                <a:cs typeface="Calibri" pitchFamily="34" charset="-120"/>
              </a:rPr>
              <a:t>(5-10W)</a:t>
            </a:r>
            <a:endParaRPr lang="en-US" sz="1100" dirty="0"/>
          </a:p>
        </p:txBody>
      </p:sp>
      <p:sp>
        <p:nvSpPr>
          <p:cNvPr id="10" name="Shape 8"/>
          <p:cNvSpPr/>
          <p:nvPr/>
        </p:nvSpPr>
        <p:spPr>
          <a:xfrm>
            <a:off x="3017520" y="1097280"/>
            <a:ext cx="2286000" cy="777240"/>
          </a:xfrm>
          <a:prstGeom prst="roundRect">
            <a:avLst>
              <a:gd name="adj" fmla="val 11765"/>
            </a:avLst>
          </a:prstGeom>
          <a:solidFill>
            <a:srgbClr val="FFFFFF"/>
          </a:solidFill>
          <a:ln w="25400">
            <a:solidFill>
              <a:srgbClr val="27AE60"/>
            </a:solidFill>
            <a:prstDash val="solid"/>
          </a:ln>
        </p:spPr>
      </p:sp>
      <p:sp>
        <p:nvSpPr>
          <p:cNvPr id="11" name="Text 9"/>
          <p:cNvSpPr/>
          <p:nvPr/>
        </p:nvSpPr>
        <p:spPr>
          <a:xfrm>
            <a:off x="3108960" y="1143000"/>
            <a:ext cx="2103120" cy="685800"/>
          </a:xfrm>
          <a:prstGeom prst="rect">
            <a:avLst/>
          </a:prstGeom>
          <a:noFill/>
          <a:ln/>
        </p:spPr>
        <p:txBody>
          <a:bodyPr wrap="square" rtlCol="0" anchor="ctr"/>
          <a:lstStyle/>
          <a:p>
            <a:pPr marL="0" indent="0" algn="ctr">
              <a:buNone/>
            </a:pPr>
            <a:r>
              <a:rPr lang="en-US" sz="1100" dirty="0">
                <a:solidFill>
                  <a:srgbClr val="1E1E1E"/>
                </a:solidFill>
                <a:latin typeface="Calibri" pitchFamily="34" charset="0"/>
                <a:ea typeface="Calibri" pitchFamily="34" charset="-122"/>
                <a:cs typeface="Calibri" pitchFamily="34" charset="-120"/>
              </a:rPr>
              <a:t>5V Röle Modülü</a:t>
            </a:r>
            <a:endParaRPr lang="en-US" sz="1100" dirty="0"/>
          </a:p>
          <a:p>
            <a:pPr marL="0" indent="0" algn="ctr">
              <a:buNone/>
            </a:pPr>
            <a:r>
              <a:rPr lang="en-US" sz="1100" dirty="0">
                <a:solidFill>
                  <a:srgbClr val="1E1E1E"/>
                </a:solidFill>
                <a:latin typeface="Calibri" pitchFamily="34" charset="0"/>
                <a:ea typeface="Calibri" pitchFamily="34" charset="-122"/>
                <a:cs typeface="Calibri" pitchFamily="34" charset="-120"/>
              </a:rPr>
              <a:t>(LED Kontrolü)</a:t>
            </a:r>
            <a:endParaRPr lang="en-US" sz="1100" dirty="0"/>
          </a:p>
        </p:txBody>
      </p:sp>
      <p:sp>
        <p:nvSpPr>
          <p:cNvPr id="12" name="Shape 10"/>
          <p:cNvSpPr/>
          <p:nvPr/>
        </p:nvSpPr>
        <p:spPr>
          <a:xfrm>
            <a:off x="3017520" y="2011680"/>
            <a:ext cx="2286000" cy="777240"/>
          </a:xfrm>
          <a:prstGeom prst="roundRect">
            <a:avLst>
              <a:gd name="adj" fmla="val 11765"/>
            </a:avLst>
          </a:prstGeom>
          <a:solidFill>
            <a:srgbClr val="FFFFFF"/>
          </a:solidFill>
          <a:ln w="25400">
            <a:solidFill>
              <a:srgbClr val="27AE60"/>
            </a:solidFill>
            <a:prstDash val="solid"/>
          </a:ln>
        </p:spPr>
      </p:sp>
      <p:sp>
        <p:nvSpPr>
          <p:cNvPr id="13" name="Text 11"/>
          <p:cNvSpPr/>
          <p:nvPr/>
        </p:nvSpPr>
        <p:spPr>
          <a:xfrm>
            <a:off x="3108960" y="2057400"/>
            <a:ext cx="2103120" cy="685800"/>
          </a:xfrm>
          <a:prstGeom prst="rect">
            <a:avLst/>
          </a:prstGeom>
          <a:noFill/>
          <a:ln/>
        </p:spPr>
        <p:txBody>
          <a:bodyPr wrap="square" rtlCol="0" anchor="ctr"/>
          <a:lstStyle/>
          <a:p>
            <a:pPr marL="0" indent="0" algn="ctr">
              <a:buNone/>
            </a:pPr>
            <a:r>
              <a:rPr lang="en-US" sz="1100" dirty="0">
                <a:solidFill>
                  <a:srgbClr val="1E1E1E"/>
                </a:solidFill>
                <a:latin typeface="Calibri" pitchFamily="34" charset="0"/>
                <a:ea typeface="Calibri" pitchFamily="34" charset="-122"/>
                <a:cs typeface="Calibri" pitchFamily="34" charset="-120"/>
              </a:rPr>
              <a:t>12V Güç Adaptörü</a:t>
            </a:r>
            <a:endParaRPr lang="en-US" sz="1100" dirty="0"/>
          </a:p>
          <a:p>
            <a:pPr marL="0" indent="0" algn="ctr">
              <a:buNone/>
            </a:pPr>
            <a:r>
              <a:rPr lang="en-US" sz="1100" dirty="0">
                <a:solidFill>
                  <a:srgbClr val="1E1E1E"/>
                </a:solidFill>
                <a:latin typeface="Calibri" pitchFamily="34" charset="0"/>
                <a:ea typeface="Calibri" pitchFamily="34" charset="-122"/>
                <a:cs typeface="Calibri" pitchFamily="34" charset="-120"/>
              </a:rPr>
              <a:t>(Şerit Beslemesi)</a:t>
            </a:r>
            <a:endParaRPr lang="en-US" sz="1100" dirty="0"/>
          </a:p>
        </p:txBody>
      </p:sp>
      <p:sp>
        <p:nvSpPr>
          <p:cNvPr id="14" name="Shape 12"/>
          <p:cNvSpPr/>
          <p:nvPr/>
        </p:nvSpPr>
        <p:spPr>
          <a:xfrm>
            <a:off x="3017520" y="2926080"/>
            <a:ext cx="2286000" cy="777240"/>
          </a:xfrm>
          <a:prstGeom prst="roundRect">
            <a:avLst>
              <a:gd name="adj" fmla="val 11765"/>
            </a:avLst>
          </a:prstGeom>
          <a:solidFill>
            <a:srgbClr val="FFFFFF"/>
          </a:solidFill>
          <a:ln w="25400">
            <a:solidFill>
              <a:srgbClr val="27AE60"/>
            </a:solidFill>
            <a:prstDash val="solid"/>
          </a:ln>
        </p:spPr>
      </p:sp>
      <p:sp>
        <p:nvSpPr>
          <p:cNvPr id="15" name="Text 13"/>
          <p:cNvSpPr/>
          <p:nvPr/>
        </p:nvSpPr>
        <p:spPr>
          <a:xfrm>
            <a:off x="3108960" y="2971800"/>
            <a:ext cx="2103120" cy="685800"/>
          </a:xfrm>
          <a:prstGeom prst="rect">
            <a:avLst/>
          </a:prstGeom>
          <a:noFill/>
          <a:ln/>
        </p:spPr>
        <p:txBody>
          <a:bodyPr wrap="square" rtlCol="0" anchor="ctr"/>
          <a:lstStyle/>
          <a:p>
            <a:pPr marL="0" indent="0" algn="ctr">
              <a:buNone/>
            </a:pPr>
            <a:r>
              <a:rPr lang="en-US" sz="1100" dirty="0">
                <a:solidFill>
                  <a:srgbClr val="1E1E1E"/>
                </a:solidFill>
                <a:latin typeface="Calibri" pitchFamily="34" charset="0"/>
                <a:ea typeface="Calibri" pitchFamily="34" charset="-122"/>
                <a:cs typeface="Calibri" pitchFamily="34" charset="-120"/>
              </a:rPr>
              <a:t>Breadboard &amp; Kablolar</a:t>
            </a:r>
            <a:endParaRPr lang="en-US" sz="1100" dirty="0"/>
          </a:p>
          <a:p>
            <a:pPr marL="0" indent="0" algn="ctr">
              <a:buNone/>
            </a:pPr>
            <a:r>
              <a:rPr lang="en-US" sz="1100" dirty="0">
                <a:solidFill>
                  <a:srgbClr val="1E1E1E"/>
                </a:solidFill>
                <a:latin typeface="Calibri" pitchFamily="34" charset="0"/>
                <a:ea typeface="Calibri" pitchFamily="34" charset="-122"/>
                <a:cs typeface="Calibri" pitchFamily="34" charset="-120"/>
              </a:rPr>
              <a:t>(Bağlantı Malzemeleri)</a:t>
            </a:r>
            <a:endParaRPr lang="en-US" sz="1100" dirty="0"/>
          </a:p>
        </p:txBody>
      </p:sp>
      <p:sp>
        <p:nvSpPr>
          <p:cNvPr id="16" name="Shape 14"/>
          <p:cNvSpPr/>
          <p:nvPr/>
        </p:nvSpPr>
        <p:spPr>
          <a:xfrm>
            <a:off x="5669280" y="1097280"/>
            <a:ext cx="3017520" cy="2743200"/>
          </a:xfrm>
          <a:prstGeom prst="rect">
            <a:avLst/>
          </a:prstGeom>
          <a:solidFill>
            <a:srgbClr val="FFFFFF"/>
          </a:solidFill>
          <a:ln w="25400">
            <a:solidFill>
              <a:srgbClr val="A5D6A7"/>
            </a:solidFill>
            <a:prstDash val="solid"/>
          </a:ln>
        </p:spPr>
      </p:sp>
      <p:sp>
        <p:nvSpPr>
          <p:cNvPr id="17" name="Text 15"/>
          <p:cNvSpPr/>
          <p:nvPr/>
        </p:nvSpPr>
        <p:spPr>
          <a:xfrm>
            <a:off x="5669280" y="2377440"/>
            <a:ext cx="3017520" cy="457200"/>
          </a:xfrm>
          <a:prstGeom prst="rect">
            <a:avLst/>
          </a:prstGeom>
          <a:noFill/>
          <a:ln/>
        </p:spPr>
        <p:txBody>
          <a:bodyPr wrap="square" rtlCol="0" anchor="ctr"/>
          <a:lstStyle/>
          <a:p>
            <a:pPr marL="0" indent="0" algn="ctr">
              <a:buNone/>
            </a:pPr>
            <a:endParaRPr lang="en-US" sz="1200" dirty="0"/>
          </a:p>
        </p:txBody>
      </p:sp>
      <p:sp>
        <p:nvSpPr>
          <p:cNvPr id="18" name="AutoShape 2">
            <a:extLst>
              <a:ext uri="{FF2B5EF4-FFF2-40B4-BE49-F238E27FC236}">
                <a16:creationId xmlns:a16="http://schemas.microsoft.com/office/drawing/2014/main" id="{FF036181-81D5-49B9-9576-C8954864D6E6}"/>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pic>
        <p:nvPicPr>
          <p:cNvPr id="21" name="Resim 20">
            <a:extLst>
              <a:ext uri="{FF2B5EF4-FFF2-40B4-BE49-F238E27FC236}">
                <a16:creationId xmlns:a16="http://schemas.microsoft.com/office/drawing/2014/main" id="{376F123B-D6FC-4451-B232-91E8E5518722}"/>
              </a:ext>
            </a:extLst>
          </p:cNvPr>
          <p:cNvPicPr>
            <a:picLocks noChangeAspect="1"/>
          </p:cNvPicPr>
          <p:nvPr/>
        </p:nvPicPr>
        <p:blipFill>
          <a:blip r:embed="rId3"/>
          <a:stretch>
            <a:fillRect/>
          </a:stretch>
        </p:blipFill>
        <p:spPr>
          <a:xfrm>
            <a:off x="5669280" y="1097281"/>
            <a:ext cx="3017520" cy="27432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9F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B5E20"/>
          </a:solidFill>
          <a:ln/>
        </p:spPr>
      </p:sp>
      <p:sp>
        <p:nvSpPr>
          <p:cNvPr id="3" name="Text 1"/>
          <p:cNvSpPr/>
          <p:nvPr/>
        </p:nvSpPr>
        <p:spPr>
          <a:xfrm>
            <a:off x="457200" y="0"/>
            <a:ext cx="8229600" cy="73152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MQTT Haberleşme Yapısı</a:t>
            </a:r>
            <a:endParaRPr lang="en-US" sz="3600" dirty="0"/>
          </a:p>
        </p:txBody>
      </p:sp>
      <p:sp>
        <p:nvSpPr>
          <p:cNvPr id="4" name="Text 2"/>
          <p:cNvSpPr/>
          <p:nvPr/>
        </p:nvSpPr>
        <p:spPr>
          <a:xfrm>
            <a:off x="457200" y="914400"/>
            <a:ext cx="8229600" cy="320040"/>
          </a:xfrm>
          <a:prstGeom prst="rect">
            <a:avLst/>
          </a:prstGeom>
          <a:noFill/>
          <a:ln/>
        </p:spPr>
        <p:txBody>
          <a:bodyPr wrap="square" rtlCol="0" anchor="ctr"/>
          <a:lstStyle/>
          <a:p>
            <a:pPr marL="0" indent="0">
              <a:buNone/>
            </a:pPr>
            <a:r>
              <a:rPr lang="en-US" sz="1400" b="1" dirty="0">
                <a:solidFill>
                  <a:srgbClr val="1B5E20"/>
                </a:solidFill>
                <a:latin typeface="Calibri" pitchFamily="34" charset="0"/>
                <a:ea typeface="Calibri" pitchFamily="34" charset="-122"/>
                <a:cs typeface="Calibri" pitchFamily="34" charset="-120"/>
              </a:rPr>
              <a:t>MQTT Konuları (Topics):</a:t>
            </a:r>
            <a:endParaRPr lang="en-US" sz="1400" dirty="0"/>
          </a:p>
        </p:txBody>
      </p:sp>
      <p:sp>
        <p:nvSpPr>
          <p:cNvPr id="5" name="Shape 3"/>
          <p:cNvSpPr/>
          <p:nvPr/>
        </p:nvSpPr>
        <p:spPr>
          <a:xfrm>
            <a:off x="457200" y="1371600"/>
            <a:ext cx="4114800" cy="457200"/>
          </a:xfrm>
          <a:prstGeom prst="rect">
            <a:avLst/>
          </a:prstGeom>
          <a:solidFill>
            <a:srgbClr val="A5D6A7"/>
          </a:solidFill>
          <a:ln/>
        </p:spPr>
      </p:sp>
      <p:sp>
        <p:nvSpPr>
          <p:cNvPr id="6" name="Text 4"/>
          <p:cNvSpPr/>
          <p:nvPr/>
        </p:nvSpPr>
        <p:spPr>
          <a:xfrm>
            <a:off x="548640" y="1371600"/>
            <a:ext cx="3931920" cy="457200"/>
          </a:xfrm>
          <a:prstGeom prst="rect">
            <a:avLst/>
          </a:prstGeom>
          <a:noFill/>
          <a:ln/>
        </p:spPr>
        <p:txBody>
          <a:bodyPr wrap="square" lIns="0" tIns="0" rIns="0" bIns="0" rtlCol="0" anchor="ctr"/>
          <a:lstStyle/>
          <a:p>
            <a:pPr marL="0" indent="0">
              <a:buNone/>
            </a:pPr>
            <a:r>
              <a:rPr lang="en-US" sz="1100" b="1" dirty="0">
                <a:solidFill>
                  <a:srgbClr val="1E1E1E"/>
                </a:solidFill>
                <a:latin typeface="Calibri" pitchFamily="34" charset="0"/>
                <a:ea typeface="Calibri" pitchFamily="34" charset="-122"/>
                <a:cs typeface="Calibri" pitchFamily="34" charset="-120"/>
              </a:rPr>
              <a:t>Telemetry: tarim_isik/9/telemetry</a:t>
            </a:r>
            <a:endParaRPr lang="en-US" sz="1100" dirty="0"/>
          </a:p>
        </p:txBody>
      </p:sp>
      <p:sp>
        <p:nvSpPr>
          <p:cNvPr id="7" name="Shape 5"/>
          <p:cNvSpPr/>
          <p:nvPr/>
        </p:nvSpPr>
        <p:spPr>
          <a:xfrm>
            <a:off x="4754880" y="1371600"/>
            <a:ext cx="3931920" cy="457200"/>
          </a:xfrm>
          <a:prstGeom prst="rect">
            <a:avLst/>
          </a:prstGeom>
          <a:solidFill>
            <a:srgbClr val="A5D6A7"/>
          </a:solidFill>
          <a:ln/>
        </p:spPr>
      </p:sp>
      <p:sp>
        <p:nvSpPr>
          <p:cNvPr id="8" name="Text 6"/>
          <p:cNvSpPr/>
          <p:nvPr/>
        </p:nvSpPr>
        <p:spPr>
          <a:xfrm>
            <a:off x="4846320" y="1371600"/>
            <a:ext cx="3749040" cy="457200"/>
          </a:xfrm>
          <a:prstGeom prst="rect">
            <a:avLst/>
          </a:prstGeom>
          <a:noFill/>
          <a:ln/>
        </p:spPr>
        <p:txBody>
          <a:bodyPr wrap="square" lIns="0" tIns="0" rIns="0" bIns="0" rtlCol="0" anchor="ctr"/>
          <a:lstStyle/>
          <a:p>
            <a:pPr marL="0" indent="0">
              <a:buNone/>
            </a:pPr>
            <a:r>
              <a:rPr lang="en-US" sz="1100" b="1" dirty="0">
                <a:solidFill>
                  <a:srgbClr val="1E1E1E"/>
                </a:solidFill>
                <a:latin typeface="Calibri" pitchFamily="34" charset="0"/>
                <a:ea typeface="Calibri" pitchFamily="34" charset="-122"/>
                <a:cs typeface="Calibri" pitchFamily="34" charset="-120"/>
              </a:rPr>
              <a:t>Komut: tarim_isik/9/command</a:t>
            </a:r>
            <a:endParaRPr lang="en-US" sz="1100" dirty="0"/>
          </a:p>
        </p:txBody>
      </p:sp>
      <p:sp>
        <p:nvSpPr>
          <p:cNvPr id="9" name="Text 7"/>
          <p:cNvSpPr/>
          <p:nvPr/>
        </p:nvSpPr>
        <p:spPr>
          <a:xfrm>
            <a:off x="457200" y="2011680"/>
            <a:ext cx="4114800" cy="274320"/>
          </a:xfrm>
          <a:prstGeom prst="rect">
            <a:avLst/>
          </a:prstGeom>
          <a:noFill/>
          <a:ln/>
        </p:spPr>
        <p:txBody>
          <a:bodyPr wrap="square" rtlCol="0" anchor="ctr"/>
          <a:lstStyle/>
          <a:p>
            <a:pPr marL="0" indent="0">
              <a:buNone/>
            </a:pPr>
            <a:r>
              <a:rPr lang="en-US" sz="1200" b="1" dirty="0">
                <a:solidFill>
                  <a:srgbClr val="1B5E20"/>
                </a:solidFill>
                <a:latin typeface="Calibri" pitchFamily="34" charset="0"/>
                <a:ea typeface="Calibri" pitchFamily="34" charset="-122"/>
                <a:cs typeface="Calibri" pitchFamily="34" charset="-120"/>
              </a:rPr>
              <a:t>Örnek Telemetry JSON:</a:t>
            </a:r>
            <a:endParaRPr lang="en-US" sz="1200" dirty="0"/>
          </a:p>
        </p:txBody>
      </p:sp>
      <p:sp>
        <p:nvSpPr>
          <p:cNvPr id="10" name="Shape 8"/>
          <p:cNvSpPr/>
          <p:nvPr/>
        </p:nvSpPr>
        <p:spPr>
          <a:xfrm>
            <a:off x="457200" y="2331720"/>
            <a:ext cx="4114800" cy="640080"/>
          </a:xfrm>
          <a:prstGeom prst="rect">
            <a:avLst/>
          </a:prstGeom>
          <a:solidFill>
            <a:srgbClr val="FFFFFF"/>
          </a:solidFill>
          <a:ln w="12700">
            <a:solidFill>
              <a:srgbClr val="2E7D32"/>
            </a:solidFill>
            <a:prstDash val="solid"/>
          </a:ln>
        </p:spPr>
      </p:sp>
      <p:sp>
        <p:nvSpPr>
          <p:cNvPr id="11" name="Text 9"/>
          <p:cNvSpPr/>
          <p:nvPr/>
        </p:nvSpPr>
        <p:spPr>
          <a:xfrm>
            <a:off x="594360" y="2377440"/>
            <a:ext cx="3840480" cy="548640"/>
          </a:xfrm>
          <a:prstGeom prst="rect">
            <a:avLst/>
          </a:prstGeom>
          <a:noFill/>
          <a:ln/>
        </p:spPr>
        <p:txBody>
          <a:bodyPr wrap="square" rtlCol="0" anchor="t"/>
          <a:lstStyle/>
          <a:p>
            <a:pPr marL="0" indent="0">
              <a:buNone/>
            </a:pPr>
            <a:r>
              <a:rPr lang="en-US" sz="900" dirty="0">
                <a:solidFill>
                  <a:srgbClr val="1E1E1E"/>
                </a:solidFill>
                <a:latin typeface="Courier New" pitchFamily="34" charset="0"/>
                <a:ea typeface="Courier New" pitchFamily="34" charset="-122"/>
                <a:cs typeface="Courier New" pitchFamily="34" charset="-120"/>
              </a:rPr>
              <a:t>{"lux": 450, "target": 1000, "led_on": true, "plant": "marul"}</a:t>
            </a:r>
            <a:endParaRPr lang="en-US" sz="900" dirty="0"/>
          </a:p>
        </p:txBody>
      </p:sp>
      <p:sp>
        <p:nvSpPr>
          <p:cNvPr id="12" name="Text 10"/>
          <p:cNvSpPr/>
          <p:nvPr/>
        </p:nvSpPr>
        <p:spPr>
          <a:xfrm>
            <a:off x="4754880" y="2011680"/>
            <a:ext cx="3931920" cy="274320"/>
          </a:xfrm>
          <a:prstGeom prst="rect">
            <a:avLst/>
          </a:prstGeom>
          <a:noFill/>
          <a:ln/>
        </p:spPr>
        <p:txBody>
          <a:bodyPr wrap="square" rtlCol="0" anchor="ctr"/>
          <a:lstStyle/>
          <a:p>
            <a:pPr marL="0" indent="0">
              <a:buNone/>
            </a:pPr>
            <a:r>
              <a:rPr lang="en-US" sz="1200" b="1" dirty="0">
                <a:solidFill>
                  <a:srgbClr val="1B5E20"/>
                </a:solidFill>
                <a:latin typeface="Calibri" pitchFamily="34" charset="0"/>
                <a:ea typeface="Calibri" pitchFamily="34" charset="-122"/>
                <a:cs typeface="Calibri" pitchFamily="34" charset="-120"/>
              </a:rPr>
              <a:t>Örnek Komut JSON:</a:t>
            </a:r>
            <a:endParaRPr lang="en-US" sz="1200" dirty="0"/>
          </a:p>
        </p:txBody>
      </p:sp>
      <p:sp>
        <p:nvSpPr>
          <p:cNvPr id="13" name="Shape 11"/>
          <p:cNvSpPr/>
          <p:nvPr/>
        </p:nvSpPr>
        <p:spPr>
          <a:xfrm>
            <a:off x="4754880" y="2331720"/>
            <a:ext cx="3931920" cy="640080"/>
          </a:xfrm>
          <a:prstGeom prst="rect">
            <a:avLst/>
          </a:prstGeom>
          <a:solidFill>
            <a:srgbClr val="FFFFFF"/>
          </a:solidFill>
          <a:ln w="12700">
            <a:solidFill>
              <a:srgbClr val="2E7D32"/>
            </a:solidFill>
            <a:prstDash val="solid"/>
          </a:ln>
        </p:spPr>
      </p:sp>
      <p:sp>
        <p:nvSpPr>
          <p:cNvPr id="14" name="Text 12"/>
          <p:cNvSpPr/>
          <p:nvPr/>
        </p:nvSpPr>
        <p:spPr>
          <a:xfrm>
            <a:off x="4892040" y="2377440"/>
            <a:ext cx="3657600" cy="548640"/>
          </a:xfrm>
          <a:prstGeom prst="rect">
            <a:avLst/>
          </a:prstGeom>
          <a:noFill/>
          <a:ln/>
        </p:spPr>
        <p:txBody>
          <a:bodyPr wrap="square" rtlCol="0" anchor="t"/>
          <a:lstStyle/>
          <a:p>
            <a:pPr marL="0" indent="0">
              <a:buNone/>
            </a:pPr>
            <a:r>
              <a:rPr lang="en-US" sz="900" dirty="0">
                <a:solidFill>
                  <a:srgbClr val="1E1E1E"/>
                </a:solidFill>
                <a:latin typeface="Courier New" pitchFamily="34" charset="0"/>
                <a:ea typeface="Courier New" pitchFamily="34" charset="-122"/>
                <a:cs typeface="Courier New" pitchFamily="34" charset="-120"/>
              </a:rPr>
              <a:t>{"cmd": "set_plant", "plant": "nane"}</a:t>
            </a:r>
            <a:endParaRPr lang="en-US" sz="900" dirty="0"/>
          </a:p>
        </p:txBody>
      </p:sp>
      <p:sp>
        <p:nvSpPr>
          <p:cNvPr id="15" name="Text 13"/>
          <p:cNvSpPr/>
          <p:nvPr/>
        </p:nvSpPr>
        <p:spPr>
          <a:xfrm>
            <a:off x="457200" y="3200400"/>
            <a:ext cx="8229600" cy="320040"/>
          </a:xfrm>
          <a:prstGeom prst="rect">
            <a:avLst/>
          </a:prstGeom>
          <a:noFill/>
          <a:ln/>
        </p:spPr>
        <p:txBody>
          <a:bodyPr wrap="square" rtlCol="0" anchor="ctr"/>
          <a:lstStyle/>
          <a:p>
            <a:pPr marL="0" indent="0">
              <a:buNone/>
            </a:pPr>
            <a:r>
              <a:rPr lang="en-US" sz="1400" b="1" dirty="0">
                <a:solidFill>
                  <a:srgbClr val="1B5E20"/>
                </a:solidFill>
                <a:latin typeface="Calibri" pitchFamily="34" charset="0"/>
                <a:ea typeface="Calibri" pitchFamily="34" charset="-122"/>
                <a:cs typeface="Calibri" pitchFamily="34" charset="-120"/>
              </a:rPr>
              <a:t>Haberleşme Özellikleri:</a:t>
            </a:r>
            <a:endParaRPr lang="en-US" sz="1400" dirty="0"/>
          </a:p>
        </p:txBody>
      </p:sp>
      <p:sp>
        <p:nvSpPr>
          <p:cNvPr id="16" name="Text 14"/>
          <p:cNvSpPr/>
          <p:nvPr/>
        </p:nvSpPr>
        <p:spPr>
          <a:xfrm>
            <a:off x="640080" y="3657600"/>
            <a:ext cx="7863840" cy="1097280"/>
          </a:xfrm>
          <a:prstGeom prst="rect">
            <a:avLst/>
          </a:prstGeom>
          <a:noFill/>
          <a:ln/>
        </p:spPr>
        <p:txBody>
          <a:bodyPr wrap="square" rtlCol="0" anchor="t"/>
          <a:lstStyle/>
          <a:p>
            <a:pPr marL="342900" indent="-342900">
              <a:lnSpc>
                <a:spcPts val="2400"/>
              </a:lnSpc>
              <a:buSzPct val="100000"/>
              <a:buChar char="•"/>
            </a:pPr>
            <a:r>
              <a:rPr lang="en-US" sz="1100" dirty="0">
                <a:solidFill>
                  <a:srgbClr val="1E1E1E"/>
                </a:solidFill>
                <a:latin typeface="Calibri" pitchFamily="34" charset="0"/>
                <a:ea typeface="Calibri" pitchFamily="34" charset="-122"/>
                <a:cs typeface="Calibri" pitchFamily="34" charset="-120"/>
              </a:rPr>
              <a:t>Publish/Subscribe mimarisi ile asenkron iletişim</a:t>
            </a:r>
            <a:endParaRPr lang="en-US" sz="1100" dirty="0"/>
          </a:p>
          <a:p>
            <a:pPr marL="342900" indent="-342900">
              <a:lnSpc>
                <a:spcPts val="2400"/>
              </a:lnSpc>
              <a:buSzPct val="100000"/>
              <a:buChar char="•"/>
            </a:pPr>
            <a:r>
              <a:rPr lang="en-US" sz="1100" dirty="0">
                <a:solidFill>
                  <a:srgbClr val="1E1E1E"/>
                </a:solidFill>
                <a:latin typeface="Calibri" pitchFamily="34" charset="0"/>
                <a:ea typeface="Calibri" pitchFamily="34" charset="-122"/>
                <a:cs typeface="Calibri" pitchFamily="34" charset="-120"/>
              </a:rPr>
              <a:t>JSON formatında veri alışverişi</a:t>
            </a:r>
            <a:endParaRPr lang="en-US" sz="1100" dirty="0"/>
          </a:p>
          <a:p>
            <a:pPr marL="342900" indent="-342900">
              <a:lnSpc>
                <a:spcPts val="2400"/>
              </a:lnSpc>
              <a:buSzPct val="100000"/>
              <a:buChar char="•"/>
            </a:pPr>
            <a:r>
              <a:rPr lang="en-US" sz="1100" dirty="0">
                <a:solidFill>
                  <a:srgbClr val="1E1E1E"/>
                </a:solidFill>
                <a:latin typeface="Calibri" pitchFamily="34" charset="0"/>
                <a:ea typeface="Calibri" pitchFamily="34" charset="-122"/>
                <a:cs typeface="Calibri" pitchFamily="34" charset="-120"/>
              </a:rPr>
              <a:t>Mosquitto MQTT Broker kullanılarak merkezi mesaj yönetimi</a:t>
            </a:r>
            <a:endParaRPr lang="en-US" sz="1100" dirty="0"/>
          </a:p>
          <a:p>
            <a:pPr marL="342900" indent="-342900">
              <a:lnSpc>
                <a:spcPts val="2400"/>
              </a:lnSpc>
              <a:buSzPct val="100000"/>
              <a:buChar char="•"/>
            </a:pPr>
            <a:r>
              <a:rPr lang="en-US" sz="1100" dirty="0">
                <a:solidFill>
                  <a:srgbClr val="1E1E1E"/>
                </a:solidFill>
                <a:latin typeface="Calibri" pitchFamily="34" charset="0"/>
                <a:ea typeface="Calibri" pitchFamily="34" charset="-122"/>
                <a:cs typeface="Calibri" pitchFamily="34" charset="-120"/>
              </a:rPr>
              <a:t>PubSubClient kütüphanesi ile Arduino kodlaması</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9F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B5E20"/>
          </a:solidFill>
          <a:ln/>
        </p:spPr>
      </p:sp>
      <p:sp>
        <p:nvSpPr>
          <p:cNvPr id="3" name="Text 1"/>
          <p:cNvSpPr/>
          <p:nvPr/>
        </p:nvSpPr>
        <p:spPr>
          <a:xfrm>
            <a:off x="457200" y="0"/>
            <a:ext cx="8229600" cy="73152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Flask Web Paneli</a:t>
            </a:r>
            <a:endParaRPr lang="en-US" sz="3600" dirty="0"/>
          </a:p>
        </p:txBody>
      </p:sp>
      <p:sp>
        <p:nvSpPr>
          <p:cNvPr id="4" name="Text 2"/>
          <p:cNvSpPr/>
          <p:nvPr/>
        </p:nvSpPr>
        <p:spPr>
          <a:xfrm>
            <a:off x="457200" y="914400"/>
            <a:ext cx="4114800" cy="320040"/>
          </a:xfrm>
          <a:prstGeom prst="rect">
            <a:avLst/>
          </a:prstGeom>
          <a:noFill/>
          <a:ln/>
        </p:spPr>
        <p:txBody>
          <a:bodyPr wrap="square" rtlCol="0" anchor="ctr"/>
          <a:lstStyle/>
          <a:p>
            <a:pPr marL="0" indent="0">
              <a:buNone/>
            </a:pPr>
            <a:r>
              <a:rPr lang="en-US" sz="1400" b="1" dirty="0">
                <a:solidFill>
                  <a:srgbClr val="1B5E20"/>
                </a:solidFill>
                <a:latin typeface="Calibri" pitchFamily="34" charset="0"/>
                <a:ea typeface="Calibri" pitchFamily="34" charset="-122"/>
                <a:cs typeface="Calibri" pitchFamily="34" charset="-120"/>
              </a:rPr>
              <a:t>Panel Özellikleri:</a:t>
            </a:r>
            <a:endParaRPr lang="en-US" sz="1400" dirty="0"/>
          </a:p>
        </p:txBody>
      </p:sp>
      <p:sp>
        <p:nvSpPr>
          <p:cNvPr id="5" name="Text 3"/>
          <p:cNvSpPr/>
          <p:nvPr/>
        </p:nvSpPr>
        <p:spPr>
          <a:xfrm>
            <a:off x="457200" y="1325880"/>
            <a:ext cx="4114800" cy="3200400"/>
          </a:xfrm>
          <a:prstGeom prst="rect">
            <a:avLst/>
          </a:prstGeom>
          <a:noFill/>
          <a:ln/>
        </p:spPr>
        <p:txBody>
          <a:bodyPr wrap="square" rtlCol="0" anchor="t"/>
          <a:lstStyle/>
          <a:p>
            <a:pPr marL="342900" indent="-342900">
              <a:lnSpc>
                <a:spcPts val="2800"/>
              </a:lnSpc>
              <a:buSzPct val="100000"/>
              <a:buChar char="•"/>
            </a:pPr>
            <a:r>
              <a:rPr lang="en-US" sz="1100" dirty="0">
                <a:solidFill>
                  <a:srgbClr val="1E1E1E"/>
                </a:solidFill>
                <a:latin typeface="Calibri" pitchFamily="34" charset="0"/>
                <a:ea typeface="Calibri" pitchFamily="34" charset="-122"/>
                <a:cs typeface="Calibri" pitchFamily="34" charset="-120"/>
              </a:rPr>
              <a:t>Anlık lux ve hedef lux gösterimi</a:t>
            </a:r>
            <a:endParaRPr lang="en-US" sz="1100" dirty="0"/>
          </a:p>
          <a:p>
            <a:pPr marL="342900" indent="-342900">
              <a:lnSpc>
                <a:spcPts val="2800"/>
              </a:lnSpc>
              <a:buSzPct val="100000"/>
              <a:buChar char="•"/>
            </a:pPr>
            <a:r>
              <a:rPr lang="en-US" sz="1100" dirty="0">
                <a:solidFill>
                  <a:srgbClr val="1E1E1E"/>
                </a:solidFill>
                <a:latin typeface="Calibri" pitchFamily="34" charset="0"/>
                <a:ea typeface="Calibri" pitchFamily="34" charset="-122"/>
                <a:cs typeface="Calibri" pitchFamily="34" charset="-120"/>
              </a:rPr>
              <a:t>Seçili bitki türü ve LED durumu</a:t>
            </a:r>
            <a:endParaRPr lang="en-US" sz="1100" dirty="0"/>
          </a:p>
          <a:p>
            <a:pPr marL="342900" indent="-342900">
              <a:lnSpc>
                <a:spcPts val="2800"/>
              </a:lnSpc>
              <a:buSzPct val="100000"/>
              <a:buChar char="•"/>
            </a:pPr>
            <a:r>
              <a:rPr lang="en-US" sz="1100" dirty="0">
                <a:solidFill>
                  <a:srgbClr val="1E1E1E"/>
                </a:solidFill>
                <a:latin typeface="Calibri" pitchFamily="34" charset="0"/>
                <a:ea typeface="Calibri" pitchFamily="34" charset="-122"/>
                <a:cs typeface="Calibri" pitchFamily="34" charset="-120"/>
              </a:rPr>
              <a:t>Son ölçümlerin tablo halinde görüntülenmesi</a:t>
            </a:r>
            <a:endParaRPr lang="en-US" sz="1100" dirty="0"/>
          </a:p>
          <a:p>
            <a:pPr marL="342900" indent="-342900">
              <a:lnSpc>
                <a:spcPts val="2800"/>
              </a:lnSpc>
              <a:buSzPct val="100000"/>
              <a:buChar char="•"/>
            </a:pPr>
            <a:r>
              <a:rPr lang="en-US" sz="1100" dirty="0">
                <a:solidFill>
                  <a:srgbClr val="1E1E1E"/>
                </a:solidFill>
                <a:latin typeface="Calibri" pitchFamily="34" charset="0"/>
                <a:ea typeface="Calibri" pitchFamily="34" charset="-122"/>
                <a:cs typeface="Calibri" pitchFamily="34" charset="-120"/>
              </a:rPr>
              <a:t>Bitki seçim dropdown (Marul/Nane/Fesleğen)</a:t>
            </a:r>
            <a:endParaRPr lang="en-US" sz="1100" dirty="0"/>
          </a:p>
          <a:p>
            <a:pPr marL="342900" indent="-342900">
              <a:lnSpc>
                <a:spcPts val="2800"/>
              </a:lnSpc>
              <a:buSzPct val="100000"/>
              <a:buChar char="•"/>
            </a:pPr>
            <a:r>
              <a:rPr lang="en-US" sz="1100" dirty="0">
                <a:solidFill>
                  <a:srgbClr val="1E1E1E"/>
                </a:solidFill>
                <a:latin typeface="Calibri" pitchFamily="34" charset="0"/>
                <a:ea typeface="Calibri" pitchFamily="34" charset="-122"/>
                <a:cs typeface="Calibri" pitchFamily="34" charset="-120"/>
              </a:rPr>
              <a:t>Manuel aç/kapat ve otomatik mod butonları</a:t>
            </a:r>
            <a:endParaRPr lang="en-US" sz="1100" dirty="0"/>
          </a:p>
          <a:p>
            <a:pPr marL="342900" indent="-342900">
              <a:lnSpc>
                <a:spcPts val="2800"/>
              </a:lnSpc>
              <a:buSzPct val="100000"/>
              <a:buChar char="•"/>
            </a:pPr>
            <a:r>
              <a:rPr lang="en-US" sz="1100" dirty="0">
                <a:solidFill>
                  <a:srgbClr val="1E1E1E"/>
                </a:solidFill>
                <a:latin typeface="Calibri" pitchFamily="34" charset="0"/>
                <a:ea typeface="Calibri" pitchFamily="34" charset="-122"/>
                <a:cs typeface="Calibri" pitchFamily="34" charset="-120"/>
              </a:rPr>
              <a:t>ML tahmini ve güven oranı gösterimi</a:t>
            </a:r>
            <a:endParaRPr lang="en-US" sz="1100" dirty="0"/>
          </a:p>
          <a:p>
            <a:pPr marL="342900" indent="-342900">
              <a:lnSpc>
                <a:spcPts val="2800"/>
              </a:lnSpc>
              <a:buSzPct val="100000"/>
              <a:buChar char="•"/>
            </a:pPr>
            <a:r>
              <a:rPr lang="en-US" sz="1100" dirty="0">
                <a:solidFill>
                  <a:srgbClr val="1E1E1E"/>
                </a:solidFill>
                <a:latin typeface="Calibri" pitchFamily="34" charset="0"/>
                <a:ea typeface="Calibri" pitchFamily="34" charset="-122"/>
                <a:cs typeface="Calibri" pitchFamily="34" charset="-120"/>
              </a:rPr>
              <a:t>Hava durumu kartları (Sıcaklık, Nem, Bulut)</a:t>
            </a:r>
            <a:endParaRPr lang="en-US" sz="1100" dirty="0"/>
          </a:p>
        </p:txBody>
      </p:sp>
      <p:sp>
        <p:nvSpPr>
          <p:cNvPr id="6" name="Shape 4"/>
          <p:cNvSpPr/>
          <p:nvPr/>
        </p:nvSpPr>
        <p:spPr>
          <a:xfrm>
            <a:off x="4846320" y="914400"/>
            <a:ext cx="3840480" cy="4041264"/>
          </a:xfrm>
          <a:prstGeom prst="rect">
            <a:avLst/>
          </a:prstGeom>
          <a:solidFill>
            <a:srgbClr val="FFFFFF"/>
          </a:solidFill>
          <a:ln w="25400">
            <a:solidFill>
              <a:srgbClr val="A5D6A7"/>
            </a:solidFill>
            <a:prstDash val="solid"/>
          </a:ln>
        </p:spPr>
      </p:sp>
      <p:sp>
        <p:nvSpPr>
          <p:cNvPr id="7" name="Text 5"/>
          <p:cNvSpPr/>
          <p:nvPr/>
        </p:nvSpPr>
        <p:spPr>
          <a:xfrm>
            <a:off x="4846320" y="2286000"/>
            <a:ext cx="3840480" cy="731520"/>
          </a:xfrm>
          <a:prstGeom prst="rect">
            <a:avLst/>
          </a:prstGeom>
          <a:noFill/>
          <a:ln/>
        </p:spPr>
        <p:txBody>
          <a:bodyPr wrap="square" rtlCol="0" anchor="ctr"/>
          <a:lstStyle/>
          <a:p>
            <a:pPr marL="0" indent="0" algn="ctr">
              <a:buNone/>
            </a:pPr>
            <a:r>
              <a:rPr lang="en-US" sz="1400" i="1" dirty="0">
                <a:solidFill>
                  <a:srgbClr val="4F4F4F"/>
                </a:solidFill>
                <a:latin typeface="Calibri" pitchFamily="34" charset="0"/>
                <a:ea typeface="Calibri" pitchFamily="34" charset="-122"/>
                <a:cs typeface="Calibri" pitchFamily="34" charset="-120"/>
              </a:rPr>
              <a:t>[Flask Panel</a:t>
            </a:r>
            <a:endParaRPr lang="en-US" sz="1400" dirty="0"/>
          </a:p>
          <a:p>
            <a:pPr marL="0" indent="0" algn="ctr">
              <a:buNone/>
            </a:pPr>
            <a:r>
              <a:rPr lang="en-US" sz="1400" i="1" dirty="0">
                <a:solidFill>
                  <a:srgbClr val="4F4F4F"/>
                </a:solidFill>
                <a:latin typeface="Calibri" pitchFamily="34" charset="0"/>
                <a:ea typeface="Calibri" pitchFamily="34" charset="-122"/>
                <a:cs typeface="Calibri" pitchFamily="34" charset="-120"/>
              </a:rPr>
              <a:t>Ekran Görüntüsü]</a:t>
            </a:r>
            <a:endParaRPr lang="en-US" sz="1400" dirty="0"/>
          </a:p>
        </p:txBody>
      </p:sp>
      <p:sp>
        <p:nvSpPr>
          <p:cNvPr id="8" name="Text 6"/>
          <p:cNvSpPr/>
          <p:nvPr/>
        </p:nvSpPr>
        <p:spPr>
          <a:xfrm>
            <a:off x="4846320" y="3840480"/>
            <a:ext cx="3840480" cy="365760"/>
          </a:xfrm>
          <a:prstGeom prst="rect">
            <a:avLst/>
          </a:prstGeom>
          <a:noFill/>
          <a:ln/>
        </p:spPr>
        <p:txBody>
          <a:bodyPr wrap="square" rtlCol="0" anchor="ctr"/>
          <a:lstStyle/>
          <a:p>
            <a:pPr marL="0" indent="0" algn="ctr">
              <a:buNone/>
            </a:pPr>
            <a:r>
              <a:rPr lang="en-US" sz="1000" i="1" dirty="0">
                <a:solidFill>
                  <a:srgbClr val="4F4F4F"/>
                </a:solidFill>
                <a:latin typeface="Calibri" pitchFamily="34" charset="0"/>
                <a:ea typeface="Calibri" pitchFamily="34" charset="-122"/>
                <a:cs typeface="Calibri" pitchFamily="34" charset="-120"/>
              </a:rPr>
              <a:t>Teknolojiler: Flask, SQLite, HTML/CSS</a:t>
            </a:r>
            <a:endParaRPr lang="en-US" sz="1000" dirty="0"/>
          </a:p>
        </p:txBody>
      </p:sp>
      <p:pic>
        <p:nvPicPr>
          <p:cNvPr id="10" name="Resim 9">
            <a:extLst>
              <a:ext uri="{FF2B5EF4-FFF2-40B4-BE49-F238E27FC236}">
                <a16:creationId xmlns:a16="http://schemas.microsoft.com/office/drawing/2014/main" id="{9970FBC7-280F-418D-999C-007EB8B6F66F}"/>
              </a:ext>
            </a:extLst>
          </p:cNvPr>
          <p:cNvPicPr>
            <a:picLocks noChangeAspect="1"/>
          </p:cNvPicPr>
          <p:nvPr/>
        </p:nvPicPr>
        <p:blipFill>
          <a:blip r:embed="rId3"/>
          <a:stretch>
            <a:fillRect/>
          </a:stretch>
        </p:blipFill>
        <p:spPr>
          <a:xfrm>
            <a:off x="4846320" y="914400"/>
            <a:ext cx="3840480" cy="404126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9F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B5E20"/>
          </a:solidFill>
          <a:ln/>
        </p:spPr>
      </p:sp>
      <p:sp>
        <p:nvSpPr>
          <p:cNvPr id="3" name="Text 1"/>
          <p:cNvSpPr/>
          <p:nvPr/>
        </p:nvSpPr>
        <p:spPr>
          <a:xfrm>
            <a:off x="457200" y="0"/>
            <a:ext cx="8229600" cy="73152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Bitki Seçimi ve Işık Rejimleri</a:t>
            </a:r>
            <a:endParaRPr lang="en-US" sz="3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1645920"/>
        </p:xfrm>
        <a:graphic>
          <a:graphicData uri="http://schemas.openxmlformats.org/drawingml/2006/table">
            <a:tbl>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41148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Bitki Türü</a:t>
                      </a:r>
                      <a:endParaRPr lang="en-US" sz="1200" dirty="0">
                        <a:latin typeface="Calibri" charset="0"/>
                        <a:ea typeface="Calibri" charset="0"/>
                        <a:cs typeface="Calibri" charset="0"/>
                      </a:endParaRPr>
                    </a:p>
                  </a:txBody>
                  <a:tcPr>
                    <a:lnL w="12700" cap="flat" cmpd="sng" algn="ctr">
                      <a:solidFill>
                        <a:srgbClr val="27AE60"/>
                      </a:solidFill>
                      <a:prstDash val="solid"/>
                      <a:round/>
                      <a:headEnd type="none" w="med" len="med"/>
                      <a:tailEnd type="none" w="med" len="med"/>
                    </a:lnL>
                    <a:lnR w="12700" cap="flat" cmpd="sng" algn="ctr">
                      <a:solidFill>
                        <a:srgbClr val="27AE60"/>
                      </a:solidFill>
                      <a:prstDash val="solid"/>
                      <a:round/>
                      <a:headEnd type="none" w="med" len="med"/>
                      <a:tailEnd type="none" w="med" len="med"/>
                    </a:lnR>
                    <a:lnT w="12700" cap="flat" cmpd="sng" algn="ctr">
                      <a:solidFill>
                        <a:srgbClr val="27AE60"/>
                      </a:solidFill>
                      <a:prstDash val="solid"/>
                      <a:round/>
                      <a:headEnd type="none" w="med" len="med"/>
                      <a:tailEnd type="none" w="med" len="med"/>
                    </a:lnT>
                    <a:lnB w="12700" cap="flat" cmpd="sng" algn="ctr">
                      <a:solidFill>
                        <a:srgbClr val="27AE60"/>
                      </a:solidFill>
                      <a:prstDash val="solid"/>
                      <a:round/>
                      <a:headEnd type="none" w="med" len="med"/>
                      <a:tailEnd type="none" w="med" len="med"/>
                    </a:lnB>
                    <a:solidFill>
                      <a:srgbClr val="27AE60"/>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Hedef Lux</a:t>
                      </a:r>
                      <a:endParaRPr lang="en-US" sz="1200" dirty="0">
                        <a:latin typeface="Calibri" charset="0"/>
                        <a:ea typeface="Calibri" charset="0"/>
                        <a:cs typeface="Calibri" charset="0"/>
                      </a:endParaRPr>
                    </a:p>
                  </a:txBody>
                  <a:tcPr>
                    <a:lnL w="12700" cap="flat" cmpd="sng" algn="ctr">
                      <a:solidFill>
                        <a:srgbClr val="27AE60"/>
                      </a:solidFill>
                      <a:prstDash val="solid"/>
                      <a:round/>
                      <a:headEnd type="none" w="med" len="med"/>
                      <a:tailEnd type="none" w="med" len="med"/>
                    </a:lnL>
                    <a:lnR w="12700" cap="flat" cmpd="sng" algn="ctr">
                      <a:solidFill>
                        <a:srgbClr val="27AE60"/>
                      </a:solidFill>
                      <a:prstDash val="solid"/>
                      <a:round/>
                      <a:headEnd type="none" w="med" len="med"/>
                      <a:tailEnd type="none" w="med" len="med"/>
                    </a:lnR>
                    <a:lnT w="12700" cap="flat" cmpd="sng" algn="ctr">
                      <a:solidFill>
                        <a:srgbClr val="27AE60"/>
                      </a:solidFill>
                      <a:prstDash val="solid"/>
                      <a:round/>
                      <a:headEnd type="none" w="med" len="med"/>
                      <a:tailEnd type="none" w="med" len="med"/>
                    </a:lnT>
                    <a:lnB w="12700" cap="flat" cmpd="sng" algn="ctr">
                      <a:solidFill>
                        <a:srgbClr val="27AE60"/>
                      </a:solidFill>
                      <a:prstDash val="solid"/>
                      <a:round/>
                      <a:headEnd type="none" w="med" len="med"/>
                      <a:tailEnd type="none" w="med" len="med"/>
                    </a:lnB>
                    <a:solidFill>
                      <a:srgbClr val="27AE60"/>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Başlangıç</a:t>
                      </a:r>
                      <a:endParaRPr lang="en-US" sz="1200" dirty="0">
                        <a:latin typeface="Calibri" charset="0"/>
                        <a:ea typeface="Calibri" charset="0"/>
                        <a:cs typeface="Calibri" charset="0"/>
                      </a:endParaRPr>
                    </a:p>
                  </a:txBody>
                  <a:tcPr>
                    <a:lnL w="12700" cap="flat" cmpd="sng" algn="ctr">
                      <a:solidFill>
                        <a:srgbClr val="27AE60"/>
                      </a:solidFill>
                      <a:prstDash val="solid"/>
                      <a:round/>
                      <a:headEnd type="none" w="med" len="med"/>
                      <a:tailEnd type="none" w="med" len="med"/>
                    </a:lnL>
                    <a:lnR w="12700" cap="flat" cmpd="sng" algn="ctr">
                      <a:solidFill>
                        <a:srgbClr val="27AE60"/>
                      </a:solidFill>
                      <a:prstDash val="solid"/>
                      <a:round/>
                      <a:headEnd type="none" w="med" len="med"/>
                      <a:tailEnd type="none" w="med" len="med"/>
                    </a:lnR>
                    <a:lnT w="12700" cap="flat" cmpd="sng" algn="ctr">
                      <a:solidFill>
                        <a:srgbClr val="27AE60"/>
                      </a:solidFill>
                      <a:prstDash val="solid"/>
                      <a:round/>
                      <a:headEnd type="none" w="med" len="med"/>
                      <a:tailEnd type="none" w="med" len="med"/>
                    </a:lnT>
                    <a:lnB w="12700" cap="flat" cmpd="sng" algn="ctr">
                      <a:solidFill>
                        <a:srgbClr val="27AE60"/>
                      </a:solidFill>
                      <a:prstDash val="solid"/>
                      <a:round/>
                      <a:headEnd type="none" w="med" len="med"/>
                      <a:tailEnd type="none" w="med" len="med"/>
                    </a:lnB>
                    <a:solidFill>
                      <a:srgbClr val="27AE60"/>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Süre (saat)</a:t>
                      </a:r>
                      <a:endParaRPr lang="en-US" sz="1200" dirty="0">
                        <a:latin typeface="Calibri" charset="0"/>
                        <a:ea typeface="Calibri" charset="0"/>
                        <a:cs typeface="Calibri" charset="0"/>
                      </a:endParaRPr>
                    </a:p>
                  </a:txBody>
                  <a:tcPr>
                    <a:lnL w="12700" cap="flat" cmpd="sng" algn="ctr">
                      <a:solidFill>
                        <a:srgbClr val="27AE60"/>
                      </a:solidFill>
                      <a:prstDash val="solid"/>
                      <a:round/>
                      <a:headEnd type="none" w="med" len="med"/>
                      <a:tailEnd type="none" w="med" len="med"/>
                    </a:lnL>
                    <a:lnR w="12700" cap="flat" cmpd="sng" algn="ctr">
                      <a:solidFill>
                        <a:srgbClr val="27AE60"/>
                      </a:solidFill>
                      <a:prstDash val="solid"/>
                      <a:round/>
                      <a:headEnd type="none" w="med" len="med"/>
                      <a:tailEnd type="none" w="med" len="med"/>
                    </a:lnR>
                    <a:lnT w="12700" cap="flat" cmpd="sng" algn="ctr">
                      <a:solidFill>
                        <a:srgbClr val="27AE60"/>
                      </a:solidFill>
                      <a:prstDash val="solid"/>
                      <a:round/>
                      <a:headEnd type="none" w="med" len="med"/>
                      <a:tailEnd type="none" w="med" len="med"/>
                    </a:lnT>
                    <a:lnB w="12700" cap="flat" cmpd="sng" algn="ctr">
                      <a:solidFill>
                        <a:srgbClr val="27AE60"/>
                      </a:solidFill>
                      <a:prstDash val="solid"/>
                      <a:round/>
                      <a:headEnd type="none" w="med" len="med"/>
                      <a:tailEnd type="none" w="med" len="med"/>
                    </a:lnB>
                    <a:solidFill>
                      <a:srgbClr val="27AE60"/>
                    </a:solidFill>
                  </a:tcPr>
                </a:tc>
                <a:extLst>
                  <a:ext uri="{0D108BD9-81ED-4DB2-BD59-A6C34878D82A}">
                    <a16:rowId xmlns:a16="http://schemas.microsoft.com/office/drawing/2014/main" val="10000"/>
                  </a:ext>
                </a:extLst>
              </a:tr>
              <a:tr h="41148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Marul</a:t>
                      </a:r>
                      <a:endParaRPr lang="en-US" sz="1200" dirty="0">
                        <a:latin typeface="Calibri" charset="0"/>
                        <a:ea typeface="Calibri" charset="0"/>
                        <a:cs typeface="Calibri" charset="0"/>
                      </a:endParaRPr>
                    </a:p>
                  </a:txBody>
                  <a:tcPr>
                    <a:lnL w="12700" cap="flat" cmpd="sng" algn="ctr">
                      <a:solidFill>
                        <a:srgbClr val="27AE60"/>
                      </a:solidFill>
                      <a:prstDash val="solid"/>
                      <a:round/>
                      <a:headEnd type="none" w="med" len="med"/>
                      <a:tailEnd type="none" w="med" len="med"/>
                    </a:lnL>
                    <a:lnR w="12700" cap="flat" cmpd="sng" algn="ctr">
                      <a:solidFill>
                        <a:srgbClr val="27AE60"/>
                      </a:solidFill>
                      <a:prstDash val="solid"/>
                      <a:round/>
                      <a:headEnd type="none" w="med" len="med"/>
                      <a:tailEnd type="none" w="med" len="med"/>
                    </a:lnR>
                    <a:lnT w="12700" cap="flat" cmpd="sng" algn="ctr">
                      <a:solidFill>
                        <a:srgbClr val="27AE60"/>
                      </a:solidFill>
                      <a:prstDash val="solid"/>
                      <a:round/>
                      <a:headEnd type="none" w="med" len="med"/>
                      <a:tailEnd type="none" w="med" len="med"/>
                    </a:lnT>
                    <a:lnB w="12700" cap="flat" cmpd="sng" algn="ctr">
                      <a:solidFill>
                        <a:srgbClr val="27AE60"/>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1000 lx</a:t>
                      </a:r>
                      <a:endParaRPr lang="en-US" sz="1200" dirty="0">
                        <a:latin typeface="Calibri" charset="0"/>
                        <a:ea typeface="Calibri" charset="0"/>
                        <a:cs typeface="Calibri" charset="0"/>
                      </a:endParaRPr>
                    </a:p>
                  </a:txBody>
                  <a:tcPr>
                    <a:lnL w="12700" cap="flat" cmpd="sng" algn="ctr">
                      <a:solidFill>
                        <a:srgbClr val="27AE60"/>
                      </a:solidFill>
                      <a:prstDash val="solid"/>
                      <a:round/>
                      <a:headEnd type="none" w="med" len="med"/>
                      <a:tailEnd type="none" w="med" len="med"/>
                    </a:lnL>
                    <a:lnR w="12700" cap="flat" cmpd="sng" algn="ctr">
                      <a:solidFill>
                        <a:srgbClr val="27AE60"/>
                      </a:solidFill>
                      <a:prstDash val="solid"/>
                      <a:round/>
                      <a:headEnd type="none" w="med" len="med"/>
                      <a:tailEnd type="none" w="med" len="med"/>
                    </a:lnR>
                    <a:lnT w="12700" cap="flat" cmpd="sng" algn="ctr">
                      <a:solidFill>
                        <a:srgbClr val="27AE60"/>
                      </a:solidFill>
                      <a:prstDash val="solid"/>
                      <a:round/>
                      <a:headEnd type="none" w="med" len="med"/>
                      <a:tailEnd type="none" w="med" len="med"/>
                    </a:lnT>
                    <a:lnB w="12700" cap="flat" cmpd="sng" algn="ctr">
                      <a:solidFill>
                        <a:srgbClr val="27AE60"/>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06:00</a:t>
                      </a:r>
                      <a:endParaRPr lang="en-US" sz="1200" dirty="0">
                        <a:latin typeface="Calibri" charset="0"/>
                        <a:ea typeface="Calibri" charset="0"/>
                        <a:cs typeface="Calibri" charset="0"/>
                      </a:endParaRPr>
                    </a:p>
                  </a:txBody>
                  <a:tcPr>
                    <a:lnL w="12700" cap="flat" cmpd="sng" algn="ctr">
                      <a:solidFill>
                        <a:srgbClr val="27AE60"/>
                      </a:solidFill>
                      <a:prstDash val="solid"/>
                      <a:round/>
                      <a:headEnd type="none" w="med" len="med"/>
                      <a:tailEnd type="none" w="med" len="med"/>
                    </a:lnL>
                    <a:lnR w="12700" cap="flat" cmpd="sng" algn="ctr">
                      <a:solidFill>
                        <a:srgbClr val="27AE60"/>
                      </a:solidFill>
                      <a:prstDash val="solid"/>
                      <a:round/>
                      <a:headEnd type="none" w="med" len="med"/>
                      <a:tailEnd type="none" w="med" len="med"/>
                    </a:lnR>
                    <a:lnT w="12700" cap="flat" cmpd="sng" algn="ctr">
                      <a:solidFill>
                        <a:srgbClr val="27AE60"/>
                      </a:solidFill>
                      <a:prstDash val="solid"/>
                      <a:round/>
                      <a:headEnd type="none" w="med" len="med"/>
                      <a:tailEnd type="none" w="med" len="med"/>
                    </a:lnT>
                    <a:lnB w="12700" cap="flat" cmpd="sng" algn="ctr">
                      <a:solidFill>
                        <a:srgbClr val="27AE60"/>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14</a:t>
                      </a:r>
                      <a:endParaRPr lang="en-US" sz="1200" dirty="0">
                        <a:latin typeface="Calibri" charset="0"/>
                        <a:ea typeface="Calibri" charset="0"/>
                        <a:cs typeface="Calibri" charset="0"/>
                      </a:endParaRPr>
                    </a:p>
                  </a:txBody>
                  <a:tcPr>
                    <a:lnL w="12700" cap="flat" cmpd="sng" algn="ctr">
                      <a:solidFill>
                        <a:srgbClr val="27AE60"/>
                      </a:solidFill>
                      <a:prstDash val="solid"/>
                      <a:round/>
                      <a:headEnd type="none" w="med" len="med"/>
                      <a:tailEnd type="none" w="med" len="med"/>
                    </a:lnL>
                    <a:lnR w="12700" cap="flat" cmpd="sng" algn="ctr">
                      <a:solidFill>
                        <a:srgbClr val="27AE60"/>
                      </a:solidFill>
                      <a:prstDash val="solid"/>
                      <a:round/>
                      <a:headEnd type="none" w="med" len="med"/>
                      <a:tailEnd type="none" w="med" len="med"/>
                    </a:lnR>
                    <a:lnT w="12700" cap="flat" cmpd="sng" algn="ctr">
                      <a:solidFill>
                        <a:srgbClr val="27AE60"/>
                      </a:solidFill>
                      <a:prstDash val="solid"/>
                      <a:round/>
                      <a:headEnd type="none" w="med" len="med"/>
                      <a:tailEnd type="none" w="med" len="med"/>
                    </a:lnT>
                    <a:lnB w="12700" cap="flat" cmpd="sng" algn="ctr">
                      <a:solidFill>
                        <a:srgbClr val="27AE6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Nane</a:t>
                      </a:r>
                      <a:endParaRPr lang="en-US" sz="1200" dirty="0">
                        <a:latin typeface="Calibri" charset="0"/>
                        <a:ea typeface="Calibri" charset="0"/>
                        <a:cs typeface="Calibri" charset="0"/>
                      </a:endParaRPr>
                    </a:p>
                  </a:txBody>
                  <a:tcPr>
                    <a:lnL w="12700" cap="flat" cmpd="sng" algn="ctr">
                      <a:solidFill>
                        <a:srgbClr val="27AE60"/>
                      </a:solidFill>
                      <a:prstDash val="solid"/>
                      <a:round/>
                      <a:headEnd type="none" w="med" len="med"/>
                      <a:tailEnd type="none" w="med" len="med"/>
                    </a:lnL>
                    <a:lnR w="12700" cap="flat" cmpd="sng" algn="ctr">
                      <a:solidFill>
                        <a:srgbClr val="27AE60"/>
                      </a:solidFill>
                      <a:prstDash val="solid"/>
                      <a:round/>
                      <a:headEnd type="none" w="med" len="med"/>
                      <a:tailEnd type="none" w="med" len="med"/>
                    </a:lnR>
                    <a:lnT w="12700" cap="flat" cmpd="sng" algn="ctr">
                      <a:solidFill>
                        <a:srgbClr val="27AE60"/>
                      </a:solidFill>
                      <a:prstDash val="solid"/>
                      <a:round/>
                      <a:headEnd type="none" w="med" len="med"/>
                      <a:tailEnd type="none" w="med" len="med"/>
                    </a:lnT>
                    <a:lnB w="12700" cap="flat" cmpd="sng" algn="ctr">
                      <a:solidFill>
                        <a:srgbClr val="27AE60"/>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800 lx</a:t>
                      </a:r>
                      <a:endParaRPr lang="en-US" sz="1200" dirty="0">
                        <a:latin typeface="Calibri" charset="0"/>
                        <a:ea typeface="Calibri" charset="0"/>
                        <a:cs typeface="Calibri" charset="0"/>
                      </a:endParaRPr>
                    </a:p>
                  </a:txBody>
                  <a:tcPr>
                    <a:lnL w="12700" cap="flat" cmpd="sng" algn="ctr">
                      <a:solidFill>
                        <a:srgbClr val="27AE60"/>
                      </a:solidFill>
                      <a:prstDash val="solid"/>
                      <a:round/>
                      <a:headEnd type="none" w="med" len="med"/>
                      <a:tailEnd type="none" w="med" len="med"/>
                    </a:lnL>
                    <a:lnR w="12700" cap="flat" cmpd="sng" algn="ctr">
                      <a:solidFill>
                        <a:srgbClr val="27AE60"/>
                      </a:solidFill>
                      <a:prstDash val="solid"/>
                      <a:round/>
                      <a:headEnd type="none" w="med" len="med"/>
                      <a:tailEnd type="none" w="med" len="med"/>
                    </a:lnR>
                    <a:lnT w="12700" cap="flat" cmpd="sng" algn="ctr">
                      <a:solidFill>
                        <a:srgbClr val="27AE60"/>
                      </a:solidFill>
                      <a:prstDash val="solid"/>
                      <a:round/>
                      <a:headEnd type="none" w="med" len="med"/>
                      <a:tailEnd type="none" w="med" len="med"/>
                    </a:lnT>
                    <a:lnB w="12700" cap="flat" cmpd="sng" algn="ctr">
                      <a:solidFill>
                        <a:srgbClr val="27AE60"/>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07:00</a:t>
                      </a:r>
                      <a:endParaRPr lang="en-US" sz="1200" dirty="0">
                        <a:latin typeface="Calibri" charset="0"/>
                        <a:ea typeface="Calibri" charset="0"/>
                        <a:cs typeface="Calibri" charset="0"/>
                      </a:endParaRPr>
                    </a:p>
                  </a:txBody>
                  <a:tcPr>
                    <a:lnL w="12700" cap="flat" cmpd="sng" algn="ctr">
                      <a:solidFill>
                        <a:srgbClr val="27AE60"/>
                      </a:solidFill>
                      <a:prstDash val="solid"/>
                      <a:round/>
                      <a:headEnd type="none" w="med" len="med"/>
                      <a:tailEnd type="none" w="med" len="med"/>
                    </a:lnL>
                    <a:lnR w="12700" cap="flat" cmpd="sng" algn="ctr">
                      <a:solidFill>
                        <a:srgbClr val="27AE60"/>
                      </a:solidFill>
                      <a:prstDash val="solid"/>
                      <a:round/>
                      <a:headEnd type="none" w="med" len="med"/>
                      <a:tailEnd type="none" w="med" len="med"/>
                    </a:lnR>
                    <a:lnT w="12700" cap="flat" cmpd="sng" algn="ctr">
                      <a:solidFill>
                        <a:srgbClr val="27AE60"/>
                      </a:solidFill>
                      <a:prstDash val="solid"/>
                      <a:round/>
                      <a:headEnd type="none" w="med" len="med"/>
                      <a:tailEnd type="none" w="med" len="med"/>
                    </a:lnT>
                    <a:lnB w="12700" cap="flat" cmpd="sng" algn="ctr">
                      <a:solidFill>
                        <a:srgbClr val="27AE60"/>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a:lnL w="12700" cap="flat" cmpd="sng" algn="ctr">
                      <a:solidFill>
                        <a:srgbClr val="27AE60"/>
                      </a:solidFill>
                      <a:prstDash val="solid"/>
                      <a:round/>
                      <a:headEnd type="none" w="med" len="med"/>
                      <a:tailEnd type="none" w="med" len="med"/>
                    </a:lnL>
                    <a:lnR w="12700" cap="flat" cmpd="sng" algn="ctr">
                      <a:solidFill>
                        <a:srgbClr val="27AE60"/>
                      </a:solidFill>
                      <a:prstDash val="solid"/>
                      <a:round/>
                      <a:headEnd type="none" w="med" len="med"/>
                      <a:tailEnd type="none" w="med" len="med"/>
                    </a:lnR>
                    <a:lnT w="12700" cap="flat" cmpd="sng" algn="ctr">
                      <a:solidFill>
                        <a:srgbClr val="27AE60"/>
                      </a:solidFill>
                      <a:prstDash val="solid"/>
                      <a:round/>
                      <a:headEnd type="none" w="med" len="med"/>
                      <a:tailEnd type="none" w="med" len="med"/>
                    </a:lnT>
                    <a:lnB w="12700" cap="flat" cmpd="sng" algn="ctr">
                      <a:solidFill>
                        <a:srgbClr val="27AE6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1148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Fesleğen</a:t>
                      </a:r>
                      <a:endParaRPr lang="en-US" sz="1200" dirty="0">
                        <a:latin typeface="Calibri" charset="0"/>
                        <a:ea typeface="Calibri" charset="0"/>
                        <a:cs typeface="Calibri" charset="0"/>
                      </a:endParaRPr>
                    </a:p>
                  </a:txBody>
                  <a:tcPr>
                    <a:lnL w="12700" cap="flat" cmpd="sng" algn="ctr">
                      <a:solidFill>
                        <a:srgbClr val="27AE60"/>
                      </a:solidFill>
                      <a:prstDash val="solid"/>
                      <a:round/>
                      <a:headEnd type="none" w="med" len="med"/>
                      <a:tailEnd type="none" w="med" len="med"/>
                    </a:lnL>
                    <a:lnR w="12700" cap="flat" cmpd="sng" algn="ctr">
                      <a:solidFill>
                        <a:srgbClr val="27AE60"/>
                      </a:solidFill>
                      <a:prstDash val="solid"/>
                      <a:round/>
                      <a:headEnd type="none" w="med" len="med"/>
                      <a:tailEnd type="none" w="med" len="med"/>
                    </a:lnR>
                    <a:lnT w="12700" cap="flat" cmpd="sng" algn="ctr">
                      <a:solidFill>
                        <a:srgbClr val="27AE60"/>
                      </a:solidFill>
                      <a:prstDash val="solid"/>
                      <a:round/>
                      <a:headEnd type="none" w="med" len="med"/>
                      <a:tailEnd type="none" w="med" len="med"/>
                    </a:lnT>
                    <a:lnB w="12700" cap="flat" cmpd="sng" algn="ctr">
                      <a:solidFill>
                        <a:srgbClr val="27AE60"/>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1200 lx</a:t>
                      </a:r>
                      <a:endParaRPr lang="en-US" sz="1200" dirty="0">
                        <a:latin typeface="Calibri" charset="0"/>
                        <a:ea typeface="Calibri" charset="0"/>
                        <a:cs typeface="Calibri" charset="0"/>
                      </a:endParaRPr>
                    </a:p>
                  </a:txBody>
                  <a:tcPr>
                    <a:lnL w="12700" cap="flat" cmpd="sng" algn="ctr">
                      <a:solidFill>
                        <a:srgbClr val="27AE60"/>
                      </a:solidFill>
                      <a:prstDash val="solid"/>
                      <a:round/>
                      <a:headEnd type="none" w="med" len="med"/>
                      <a:tailEnd type="none" w="med" len="med"/>
                    </a:lnL>
                    <a:lnR w="12700" cap="flat" cmpd="sng" algn="ctr">
                      <a:solidFill>
                        <a:srgbClr val="27AE60"/>
                      </a:solidFill>
                      <a:prstDash val="solid"/>
                      <a:round/>
                      <a:headEnd type="none" w="med" len="med"/>
                      <a:tailEnd type="none" w="med" len="med"/>
                    </a:lnR>
                    <a:lnT w="12700" cap="flat" cmpd="sng" algn="ctr">
                      <a:solidFill>
                        <a:srgbClr val="27AE60"/>
                      </a:solidFill>
                      <a:prstDash val="solid"/>
                      <a:round/>
                      <a:headEnd type="none" w="med" len="med"/>
                      <a:tailEnd type="none" w="med" len="med"/>
                    </a:lnT>
                    <a:lnB w="12700" cap="flat" cmpd="sng" algn="ctr">
                      <a:solidFill>
                        <a:srgbClr val="27AE60"/>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06:00</a:t>
                      </a:r>
                      <a:endParaRPr lang="en-US" sz="1200" dirty="0">
                        <a:latin typeface="Calibri" charset="0"/>
                        <a:ea typeface="Calibri" charset="0"/>
                        <a:cs typeface="Calibri" charset="0"/>
                      </a:endParaRPr>
                    </a:p>
                  </a:txBody>
                  <a:tcPr>
                    <a:lnL w="12700" cap="flat" cmpd="sng" algn="ctr">
                      <a:solidFill>
                        <a:srgbClr val="27AE60"/>
                      </a:solidFill>
                      <a:prstDash val="solid"/>
                      <a:round/>
                      <a:headEnd type="none" w="med" len="med"/>
                      <a:tailEnd type="none" w="med" len="med"/>
                    </a:lnL>
                    <a:lnR w="12700" cap="flat" cmpd="sng" algn="ctr">
                      <a:solidFill>
                        <a:srgbClr val="27AE60"/>
                      </a:solidFill>
                      <a:prstDash val="solid"/>
                      <a:round/>
                      <a:headEnd type="none" w="med" len="med"/>
                      <a:tailEnd type="none" w="med" len="med"/>
                    </a:lnR>
                    <a:lnT w="12700" cap="flat" cmpd="sng" algn="ctr">
                      <a:solidFill>
                        <a:srgbClr val="27AE60"/>
                      </a:solidFill>
                      <a:prstDash val="solid"/>
                      <a:round/>
                      <a:headEnd type="none" w="med" len="med"/>
                      <a:tailEnd type="none" w="med" len="med"/>
                    </a:lnT>
                    <a:lnB w="12700" cap="flat" cmpd="sng" algn="ctr">
                      <a:solidFill>
                        <a:srgbClr val="27AE60"/>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16</a:t>
                      </a:r>
                      <a:endParaRPr lang="en-US" sz="1200" dirty="0">
                        <a:latin typeface="Calibri" charset="0"/>
                        <a:ea typeface="Calibri" charset="0"/>
                        <a:cs typeface="Calibri" charset="0"/>
                      </a:endParaRPr>
                    </a:p>
                  </a:txBody>
                  <a:tcPr>
                    <a:lnL w="12700" cap="flat" cmpd="sng" algn="ctr">
                      <a:solidFill>
                        <a:srgbClr val="27AE60"/>
                      </a:solidFill>
                      <a:prstDash val="solid"/>
                      <a:round/>
                      <a:headEnd type="none" w="med" len="med"/>
                      <a:tailEnd type="none" w="med" len="med"/>
                    </a:lnL>
                    <a:lnR w="12700" cap="flat" cmpd="sng" algn="ctr">
                      <a:solidFill>
                        <a:srgbClr val="27AE60"/>
                      </a:solidFill>
                      <a:prstDash val="solid"/>
                      <a:round/>
                      <a:headEnd type="none" w="med" len="med"/>
                      <a:tailEnd type="none" w="med" len="med"/>
                    </a:lnR>
                    <a:lnT w="12700" cap="flat" cmpd="sng" algn="ctr">
                      <a:solidFill>
                        <a:srgbClr val="27AE60"/>
                      </a:solidFill>
                      <a:prstDash val="solid"/>
                      <a:round/>
                      <a:headEnd type="none" w="med" len="med"/>
                      <a:tailEnd type="none" w="med" len="med"/>
                    </a:lnT>
                    <a:lnB w="12700" cap="flat" cmpd="sng" algn="ctr">
                      <a:solidFill>
                        <a:srgbClr val="27AE6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Text 2"/>
          <p:cNvSpPr/>
          <p:nvPr/>
        </p:nvSpPr>
        <p:spPr>
          <a:xfrm>
            <a:off x="457200" y="2926080"/>
            <a:ext cx="8229600" cy="320040"/>
          </a:xfrm>
          <a:prstGeom prst="rect">
            <a:avLst/>
          </a:prstGeom>
          <a:noFill/>
          <a:ln/>
        </p:spPr>
        <p:txBody>
          <a:bodyPr wrap="square" rtlCol="0" anchor="ctr"/>
          <a:lstStyle/>
          <a:p>
            <a:pPr marL="0" indent="0">
              <a:buNone/>
            </a:pPr>
            <a:r>
              <a:rPr lang="en-US" sz="1400" b="1" dirty="0">
                <a:solidFill>
                  <a:srgbClr val="1B5E20"/>
                </a:solidFill>
                <a:latin typeface="Calibri" pitchFamily="34" charset="0"/>
                <a:ea typeface="Calibri" pitchFamily="34" charset="-122"/>
                <a:cs typeface="Calibri" pitchFamily="34" charset="-120"/>
              </a:rPr>
              <a:t>Bitki Profili Kullanımı:</a:t>
            </a:r>
            <a:endParaRPr lang="en-US" sz="1400" dirty="0"/>
          </a:p>
        </p:txBody>
      </p:sp>
      <p:sp>
        <p:nvSpPr>
          <p:cNvPr id="6" name="Text 3"/>
          <p:cNvSpPr/>
          <p:nvPr/>
        </p:nvSpPr>
        <p:spPr>
          <a:xfrm>
            <a:off x="640080" y="3383280"/>
            <a:ext cx="7863840" cy="1371600"/>
          </a:xfrm>
          <a:prstGeom prst="rect">
            <a:avLst/>
          </a:prstGeom>
          <a:noFill/>
          <a:ln/>
        </p:spPr>
        <p:txBody>
          <a:bodyPr wrap="square" rtlCol="0" anchor="t"/>
          <a:lstStyle/>
          <a:p>
            <a:pPr marL="342900" indent="-342900">
              <a:lnSpc>
                <a:spcPts val="2600"/>
              </a:lnSpc>
              <a:buSzPct val="100000"/>
              <a:buChar char="•"/>
            </a:pPr>
            <a:r>
              <a:rPr lang="en-US" sz="1100" dirty="0">
                <a:solidFill>
                  <a:srgbClr val="1E1E1E"/>
                </a:solidFill>
                <a:latin typeface="Calibri" pitchFamily="34" charset="0"/>
                <a:ea typeface="Calibri" pitchFamily="34" charset="-122"/>
                <a:cs typeface="Calibri" pitchFamily="34" charset="-120"/>
              </a:rPr>
              <a:t>Panel üzerinden bitki seçimi yapıldığında, sistem otomatik olarak bitkiye ait parametreleri yükler</a:t>
            </a:r>
            <a:endParaRPr lang="en-US" sz="1100" dirty="0"/>
          </a:p>
          <a:p>
            <a:pPr marL="342900" indent="-342900">
              <a:lnSpc>
                <a:spcPts val="2600"/>
              </a:lnSpc>
              <a:buSzPct val="100000"/>
              <a:buChar char="•"/>
            </a:pPr>
            <a:r>
              <a:rPr lang="en-US" sz="1100" dirty="0">
                <a:solidFill>
                  <a:srgbClr val="1E1E1E"/>
                </a:solidFill>
                <a:latin typeface="Calibri" pitchFamily="34" charset="0"/>
                <a:ea typeface="Calibri" pitchFamily="34" charset="-122"/>
                <a:cs typeface="Calibri" pitchFamily="34" charset="-120"/>
              </a:rPr>
              <a:t>Hedef lux ve ışık periyodu seçilen bitkinin ihtiyaçlarına göre ayarlanır</a:t>
            </a:r>
            <a:endParaRPr lang="en-US" sz="1100" dirty="0"/>
          </a:p>
          <a:p>
            <a:pPr marL="342900" indent="-342900">
              <a:lnSpc>
                <a:spcPts val="2600"/>
              </a:lnSpc>
              <a:buSzPct val="100000"/>
              <a:buChar char="•"/>
            </a:pPr>
            <a:r>
              <a:rPr lang="en-US" sz="1100" dirty="0">
                <a:solidFill>
                  <a:srgbClr val="1E1E1E"/>
                </a:solidFill>
                <a:latin typeface="Calibri" pitchFamily="34" charset="0"/>
                <a:ea typeface="Calibri" pitchFamily="34" charset="-122"/>
                <a:cs typeface="Calibri" pitchFamily="34" charset="-120"/>
              </a:rPr>
              <a:t>Bu bilgiler MQTT command topic üzerinden NodeMCU'ya gönderilir</a:t>
            </a:r>
            <a:endParaRPr lang="en-US" sz="1100" dirty="0"/>
          </a:p>
          <a:p>
            <a:pPr marL="342900" indent="-342900">
              <a:lnSpc>
                <a:spcPts val="2600"/>
              </a:lnSpc>
              <a:buSzPct val="100000"/>
              <a:buChar char="•"/>
            </a:pPr>
            <a:r>
              <a:rPr lang="en-US" sz="1100" dirty="0">
                <a:solidFill>
                  <a:srgbClr val="1E1E1E"/>
                </a:solidFill>
                <a:latin typeface="Calibri" pitchFamily="34" charset="0"/>
                <a:ea typeface="Calibri" pitchFamily="34" charset="-122"/>
                <a:cs typeface="Calibri" pitchFamily="34" charset="-120"/>
              </a:rPr>
              <a:t>Otomatik moda alındığında sistem belirlenmiş lux değerini hedef alarak çalışır</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9F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B5E20"/>
          </a:solidFill>
          <a:ln/>
        </p:spPr>
      </p:sp>
      <p:sp>
        <p:nvSpPr>
          <p:cNvPr id="3" name="Text 1"/>
          <p:cNvSpPr/>
          <p:nvPr/>
        </p:nvSpPr>
        <p:spPr>
          <a:xfrm>
            <a:off x="457200" y="0"/>
            <a:ext cx="8229600" cy="73152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Otomatik ve Manuel Kontrol</a:t>
            </a:r>
            <a:endParaRPr lang="en-US" sz="3600" dirty="0"/>
          </a:p>
        </p:txBody>
      </p:sp>
      <p:sp>
        <p:nvSpPr>
          <p:cNvPr id="4" name="Text 2"/>
          <p:cNvSpPr/>
          <p:nvPr/>
        </p:nvSpPr>
        <p:spPr>
          <a:xfrm>
            <a:off x="457200" y="914400"/>
            <a:ext cx="4114800" cy="320040"/>
          </a:xfrm>
          <a:prstGeom prst="rect">
            <a:avLst/>
          </a:prstGeom>
          <a:noFill/>
          <a:ln/>
        </p:spPr>
        <p:txBody>
          <a:bodyPr wrap="square" rtlCol="0" anchor="ctr"/>
          <a:lstStyle/>
          <a:p>
            <a:pPr marL="0" indent="0">
              <a:buNone/>
            </a:pPr>
            <a:r>
              <a:rPr lang="en-US" sz="1400" b="1" dirty="0">
                <a:solidFill>
                  <a:srgbClr val="1B5E20"/>
                </a:solidFill>
                <a:latin typeface="Calibri" pitchFamily="34" charset="0"/>
                <a:ea typeface="Calibri" pitchFamily="34" charset="-122"/>
                <a:cs typeface="Calibri" pitchFamily="34" charset="-120"/>
              </a:rPr>
              <a:t>Otomatik Mod</a:t>
            </a:r>
            <a:endParaRPr lang="en-US" sz="1400" dirty="0"/>
          </a:p>
        </p:txBody>
      </p:sp>
      <p:sp>
        <p:nvSpPr>
          <p:cNvPr id="5" name="Shape 3"/>
          <p:cNvSpPr/>
          <p:nvPr/>
        </p:nvSpPr>
        <p:spPr>
          <a:xfrm>
            <a:off x="457200" y="1325880"/>
            <a:ext cx="4114800" cy="2743200"/>
          </a:xfrm>
          <a:prstGeom prst="roundRect">
            <a:avLst>
              <a:gd name="adj" fmla="val 3333"/>
            </a:avLst>
          </a:prstGeom>
          <a:solidFill>
            <a:srgbClr val="FFFFFF"/>
          </a:solidFill>
          <a:ln w="25400">
            <a:solidFill>
              <a:srgbClr val="27AE60"/>
            </a:solidFill>
            <a:prstDash val="solid"/>
          </a:ln>
        </p:spPr>
      </p:sp>
      <p:sp>
        <p:nvSpPr>
          <p:cNvPr id="6" name="Text 4"/>
          <p:cNvSpPr/>
          <p:nvPr/>
        </p:nvSpPr>
        <p:spPr>
          <a:xfrm>
            <a:off x="594360" y="1417320"/>
            <a:ext cx="3840480" cy="2560320"/>
          </a:xfrm>
          <a:prstGeom prst="rect">
            <a:avLst/>
          </a:prstGeom>
          <a:noFill/>
          <a:ln/>
        </p:spPr>
        <p:txBody>
          <a:bodyPr wrap="square" rtlCol="0" anchor="t"/>
          <a:lstStyle/>
          <a:p>
            <a:pPr marL="342900" indent="-342900">
              <a:lnSpc>
                <a:spcPts val="2600"/>
              </a:lnSpc>
              <a:buSzPct val="100000"/>
              <a:buChar char="•"/>
            </a:pPr>
            <a:r>
              <a:rPr lang="en-US" sz="1100" dirty="0">
                <a:solidFill>
                  <a:srgbClr val="1E1E1E"/>
                </a:solidFill>
                <a:latin typeface="Calibri" pitchFamily="34" charset="0"/>
                <a:ea typeface="Calibri" pitchFamily="34" charset="-122"/>
                <a:cs typeface="Calibri" pitchFamily="34" charset="-120"/>
              </a:rPr>
              <a:t>Sistem ışık periyodu içinde olup olmadığını kontrol eder</a:t>
            </a:r>
            <a:endParaRPr lang="en-US" sz="1100" dirty="0"/>
          </a:p>
          <a:p>
            <a:pPr marL="342900" indent="-342900">
              <a:lnSpc>
                <a:spcPts val="2600"/>
              </a:lnSpc>
              <a:buSzPct val="100000"/>
              <a:buChar char="•"/>
            </a:pPr>
            <a:r>
              <a:rPr lang="en-US" sz="1100" dirty="0">
                <a:solidFill>
                  <a:srgbClr val="1E1E1E"/>
                </a:solidFill>
                <a:latin typeface="Calibri" pitchFamily="34" charset="0"/>
                <a:ea typeface="Calibri" pitchFamily="34" charset="-122"/>
                <a:cs typeface="Calibri" pitchFamily="34" charset="-120"/>
              </a:rPr>
              <a:t>Eğer periyot içindeyse ve lux &lt; hedef ise LED açılır</a:t>
            </a:r>
            <a:endParaRPr lang="en-US" sz="1100" dirty="0"/>
          </a:p>
          <a:p>
            <a:pPr marL="342900" indent="-342900">
              <a:lnSpc>
                <a:spcPts val="2600"/>
              </a:lnSpc>
              <a:buSzPct val="100000"/>
              <a:buChar char="•"/>
            </a:pPr>
            <a:r>
              <a:rPr lang="en-US" sz="1100" dirty="0">
                <a:solidFill>
                  <a:srgbClr val="1E1E1E"/>
                </a:solidFill>
                <a:latin typeface="Calibri" pitchFamily="34" charset="0"/>
                <a:ea typeface="Calibri" pitchFamily="34" charset="-122"/>
                <a:cs typeface="Calibri" pitchFamily="34" charset="-120"/>
              </a:rPr>
              <a:t>Eğer lux ≥ hedef ise LED kapatılır</a:t>
            </a:r>
            <a:endParaRPr lang="en-US" sz="1100" dirty="0"/>
          </a:p>
          <a:p>
            <a:pPr marL="342900" indent="-342900">
              <a:lnSpc>
                <a:spcPts val="2600"/>
              </a:lnSpc>
              <a:buSzPct val="100000"/>
              <a:buChar char="•"/>
            </a:pPr>
            <a:r>
              <a:rPr lang="en-US" sz="1100" dirty="0">
                <a:solidFill>
                  <a:srgbClr val="1E1E1E"/>
                </a:solidFill>
                <a:latin typeface="Calibri" pitchFamily="34" charset="0"/>
                <a:ea typeface="Calibri" pitchFamily="34" charset="-122"/>
                <a:cs typeface="Calibri" pitchFamily="34" charset="-120"/>
              </a:rPr>
              <a:t>Periyot dışında LED kapalı kalır</a:t>
            </a:r>
            <a:endParaRPr lang="en-US" sz="1100" dirty="0"/>
          </a:p>
          <a:p>
            <a:pPr marL="342900" indent="-342900">
              <a:lnSpc>
                <a:spcPts val="2600"/>
              </a:lnSpc>
              <a:buSzPct val="100000"/>
              <a:buChar char="•"/>
            </a:pPr>
            <a:r>
              <a:rPr lang="en-US" sz="1100" dirty="0">
                <a:solidFill>
                  <a:srgbClr val="1E1E1E"/>
                </a:solidFill>
                <a:latin typeface="Calibri" pitchFamily="34" charset="0"/>
                <a:ea typeface="Calibri" pitchFamily="34" charset="-122"/>
                <a:cs typeface="Calibri" pitchFamily="34" charset="-120"/>
              </a:rPr>
              <a:t>Kural tabanlı ve sağlam çalışan bir sistem</a:t>
            </a:r>
            <a:endParaRPr lang="en-US" sz="1100" dirty="0"/>
          </a:p>
        </p:txBody>
      </p:sp>
      <p:sp>
        <p:nvSpPr>
          <p:cNvPr id="7" name="Text 5"/>
          <p:cNvSpPr/>
          <p:nvPr/>
        </p:nvSpPr>
        <p:spPr>
          <a:xfrm>
            <a:off x="4846320" y="914400"/>
            <a:ext cx="3840480" cy="320040"/>
          </a:xfrm>
          <a:prstGeom prst="rect">
            <a:avLst/>
          </a:prstGeom>
          <a:noFill/>
          <a:ln/>
        </p:spPr>
        <p:txBody>
          <a:bodyPr wrap="square" rtlCol="0" anchor="ctr"/>
          <a:lstStyle/>
          <a:p>
            <a:pPr marL="0" indent="0">
              <a:buNone/>
            </a:pPr>
            <a:r>
              <a:rPr lang="en-US" sz="1400" b="1" dirty="0">
                <a:solidFill>
                  <a:srgbClr val="1B5E20"/>
                </a:solidFill>
                <a:latin typeface="Calibri" pitchFamily="34" charset="0"/>
                <a:ea typeface="Calibri" pitchFamily="34" charset="-122"/>
                <a:cs typeface="Calibri" pitchFamily="34" charset="-120"/>
              </a:rPr>
              <a:t>Manuel &amp; Seçenekler</a:t>
            </a:r>
            <a:endParaRPr lang="en-US" sz="1400" dirty="0"/>
          </a:p>
        </p:txBody>
      </p:sp>
      <p:sp>
        <p:nvSpPr>
          <p:cNvPr id="8" name="Shape 6"/>
          <p:cNvSpPr/>
          <p:nvPr/>
        </p:nvSpPr>
        <p:spPr>
          <a:xfrm>
            <a:off x="4846320" y="1325880"/>
            <a:ext cx="3840480" cy="1280160"/>
          </a:xfrm>
          <a:prstGeom prst="roundRect">
            <a:avLst>
              <a:gd name="adj" fmla="val 7143"/>
            </a:avLst>
          </a:prstGeom>
          <a:solidFill>
            <a:srgbClr val="FFFFFF"/>
          </a:solidFill>
          <a:ln w="25400">
            <a:solidFill>
              <a:srgbClr val="27AE60"/>
            </a:solidFill>
            <a:prstDash val="solid"/>
          </a:ln>
        </p:spPr>
      </p:sp>
      <p:sp>
        <p:nvSpPr>
          <p:cNvPr id="9" name="Text 7"/>
          <p:cNvSpPr/>
          <p:nvPr/>
        </p:nvSpPr>
        <p:spPr>
          <a:xfrm>
            <a:off x="4983480" y="1417320"/>
            <a:ext cx="3657600" cy="1097280"/>
          </a:xfrm>
          <a:prstGeom prst="rect">
            <a:avLst/>
          </a:prstGeom>
          <a:noFill/>
          <a:ln/>
        </p:spPr>
        <p:txBody>
          <a:bodyPr wrap="square" rtlCol="0" anchor="t"/>
          <a:lstStyle/>
          <a:p>
            <a:pPr marL="342900" indent="-342900">
              <a:lnSpc>
                <a:spcPts val="2600"/>
              </a:lnSpc>
              <a:buSzPct val="100000"/>
              <a:buChar char="•"/>
            </a:pPr>
            <a:r>
              <a:rPr lang="en-US" sz="1100" dirty="0">
                <a:solidFill>
                  <a:srgbClr val="1E1E1E"/>
                </a:solidFill>
                <a:latin typeface="Calibri" pitchFamily="34" charset="0"/>
                <a:ea typeface="Calibri" pitchFamily="34" charset="-122"/>
                <a:cs typeface="Calibri" pitchFamily="34" charset="-120"/>
              </a:rPr>
              <a:t>Işığı Aç</a:t>
            </a:r>
            <a:endParaRPr lang="en-US" sz="1100" dirty="0"/>
          </a:p>
          <a:p>
            <a:pPr marL="342900" indent="-342900">
              <a:lnSpc>
                <a:spcPts val="2600"/>
              </a:lnSpc>
              <a:buSzPct val="100000"/>
              <a:buChar char="•"/>
            </a:pPr>
            <a:r>
              <a:rPr lang="en-US" sz="1100" dirty="0">
                <a:solidFill>
                  <a:srgbClr val="1E1E1E"/>
                </a:solidFill>
                <a:latin typeface="Calibri" pitchFamily="34" charset="0"/>
                <a:ea typeface="Calibri" pitchFamily="34" charset="-122"/>
                <a:cs typeface="Calibri" pitchFamily="34" charset="-120"/>
              </a:rPr>
              <a:t>Işığı Kapat</a:t>
            </a:r>
            <a:endParaRPr lang="en-US" sz="1100" dirty="0"/>
          </a:p>
          <a:p>
            <a:pPr marL="342900" indent="-342900">
              <a:lnSpc>
                <a:spcPts val="2600"/>
              </a:lnSpc>
              <a:buSzPct val="100000"/>
              <a:buChar char="•"/>
            </a:pPr>
            <a:r>
              <a:rPr lang="en-US" sz="1100" dirty="0">
                <a:solidFill>
                  <a:srgbClr val="1E1E1E"/>
                </a:solidFill>
                <a:latin typeface="Calibri" pitchFamily="34" charset="0"/>
                <a:ea typeface="Calibri" pitchFamily="34" charset="-122"/>
                <a:cs typeface="Calibri" pitchFamily="34" charset="-120"/>
              </a:rPr>
              <a:t>Otomatik Moda Dön</a:t>
            </a:r>
            <a:endParaRPr lang="en-US" sz="1100" dirty="0"/>
          </a:p>
        </p:txBody>
      </p:sp>
      <p:sp>
        <p:nvSpPr>
          <p:cNvPr id="10" name="Shape 8"/>
          <p:cNvSpPr/>
          <p:nvPr/>
        </p:nvSpPr>
        <p:spPr>
          <a:xfrm>
            <a:off x="4846320" y="2788920"/>
            <a:ext cx="3840480" cy="1280160"/>
          </a:xfrm>
          <a:prstGeom prst="rect">
            <a:avLst/>
          </a:prstGeom>
          <a:solidFill>
            <a:srgbClr val="A5D6A7"/>
          </a:solidFill>
          <a:ln w="25400">
            <a:solidFill>
              <a:srgbClr val="2E7D32"/>
            </a:solidFill>
            <a:prstDash val="solid"/>
          </a:ln>
        </p:spPr>
      </p:sp>
      <p:sp>
        <p:nvSpPr>
          <p:cNvPr id="11" name="Text 9"/>
          <p:cNvSpPr/>
          <p:nvPr/>
        </p:nvSpPr>
        <p:spPr>
          <a:xfrm>
            <a:off x="4983480" y="2880360"/>
            <a:ext cx="3657600" cy="1097280"/>
          </a:xfrm>
          <a:prstGeom prst="rect">
            <a:avLst/>
          </a:prstGeom>
          <a:noFill/>
          <a:ln/>
        </p:spPr>
        <p:txBody>
          <a:bodyPr wrap="square" rtlCol="0" anchor="t"/>
          <a:lstStyle/>
          <a:p>
            <a:pPr marL="0" indent="0">
              <a:lnSpc>
                <a:spcPts val="2200"/>
              </a:lnSpc>
              <a:buNone/>
            </a:pPr>
            <a:r>
              <a:rPr lang="en-US" sz="1000" i="1" dirty="0">
                <a:solidFill>
                  <a:srgbClr val="1E1E1E"/>
                </a:solidFill>
                <a:latin typeface="Calibri" pitchFamily="34" charset="0"/>
                <a:ea typeface="Calibri" pitchFamily="34" charset="-122"/>
                <a:cs typeface="Calibri" pitchFamily="34" charset="-120"/>
              </a:rPr>
              <a:t>Güvenlik: Manuel kontrol yapılsa dahi sistem otomatik moda geri dönebilir</a:t>
            </a:r>
            <a:endParaRPr lang="en-US" sz="1000" dirty="0"/>
          </a:p>
          <a:p>
            <a:pPr marL="0" indent="0">
              <a:lnSpc>
                <a:spcPts val="2200"/>
              </a:lnSpc>
              <a:buNone/>
            </a:pPr>
            <a:r>
              <a:rPr lang="en-US" sz="1000" i="1" dirty="0">
                <a:solidFill>
                  <a:srgbClr val="1E1E1E"/>
                </a:solidFill>
                <a:latin typeface="Calibri" pitchFamily="34" charset="0"/>
                <a:ea typeface="Calibri" pitchFamily="34" charset="-122"/>
                <a:cs typeface="Calibri" pitchFamily="34" charset="-120"/>
              </a:rPr>
              <a:t>Röle kontrolü sayesinde elektrik yönetimi güvenli ve kararlı</a:t>
            </a:r>
            <a:endParaRPr lang="en-US" sz="1000" dirty="0"/>
          </a:p>
          <a:p>
            <a:pPr marL="0" indent="0">
              <a:lnSpc>
                <a:spcPts val="2200"/>
              </a:lnSpc>
              <a:buNone/>
            </a:pPr>
            <a:r>
              <a:rPr lang="en-US" sz="1000" i="1" dirty="0">
                <a:solidFill>
                  <a:srgbClr val="1E1E1E"/>
                </a:solidFill>
                <a:latin typeface="Calibri" pitchFamily="34" charset="0"/>
                <a:ea typeface="Calibri" pitchFamily="34" charset="-122"/>
                <a:cs typeface="Calibri" pitchFamily="34" charset="-120"/>
              </a:rPr>
              <a:t>Sensör verilerine dayalı gerçek zamanlı karar mekanizması</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9F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B5E20"/>
          </a:solidFill>
          <a:ln/>
        </p:spPr>
      </p:sp>
      <p:sp>
        <p:nvSpPr>
          <p:cNvPr id="3" name="Text 1"/>
          <p:cNvSpPr/>
          <p:nvPr/>
        </p:nvSpPr>
        <p:spPr>
          <a:xfrm>
            <a:off x="457200" y="0"/>
            <a:ext cx="8229600" cy="73152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Yapay Zekâ &amp; Makine Öğrenmesi</a:t>
            </a:r>
            <a:endParaRPr lang="en-US" sz="3600" dirty="0"/>
          </a:p>
        </p:txBody>
      </p:sp>
      <p:sp>
        <p:nvSpPr>
          <p:cNvPr id="4" name="Text 2"/>
          <p:cNvSpPr/>
          <p:nvPr/>
        </p:nvSpPr>
        <p:spPr>
          <a:xfrm>
            <a:off x="457200" y="914400"/>
            <a:ext cx="8229600" cy="274320"/>
          </a:xfrm>
          <a:prstGeom prst="rect">
            <a:avLst/>
          </a:prstGeom>
          <a:noFill/>
          <a:ln/>
        </p:spPr>
        <p:txBody>
          <a:bodyPr wrap="square" rtlCol="0" anchor="ctr"/>
          <a:lstStyle/>
          <a:p>
            <a:pPr marL="0" indent="0">
              <a:buNone/>
            </a:pPr>
            <a:r>
              <a:rPr lang="en-US" sz="1200" b="1" dirty="0">
                <a:solidFill>
                  <a:srgbClr val="1E1E1E"/>
                </a:solidFill>
                <a:latin typeface="Calibri" pitchFamily="34" charset="0"/>
                <a:ea typeface="Calibri" pitchFamily="34" charset="-122"/>
                <a:cs typeface="Calibri" pitchFamily="34" charset="-120"/>
              </a:rPr>
              <a:t>Model Tipi: Decision Tree Classifier</a:t>
            </a:r>
            <a:endParaRPr lang="en-US" sz="1200" dirty="0"/>
          </a:p>
        </p:txBody>
      </p:sp>
      <p:sp>
        <p:nvSpPr>
          <p:cNvPr id="5" name="Text 3"/>
          <p:cNvSpPr/>
          <p:nvPr/>
        </p:nvSpPr>
        <p:spPr>
          <a:xfrm>
            <a:off x="457200" y="1280160"/>
            <a:ext cx="4114800" cy="274320"/>
          </a:xfrm>
          <a:prstGeom prst="rect">
            <a:avLst/>
          </a:prstGeom>
          <a:noFill/>
          <a:ln/>
        </p:spPr>
        <p:txBody>
          <a:bodyPr wrap="square" rtlCol="0" anchor="ctr"/>
          <a:lstStyle/>
          <a:p>
            <a:pPr marL="0" indent="0">
              <a:buNone/>
            </a:pPr>
            <a:r>
              <a:rPr lang="en-US" sz="1100" b="1" dirty="0">
                <a:solidFill>
                  <a:srgbClr val="1B5E20"/>
                </a:solidFill>
                <a:latin typeface="Calibri" pitchFamily="34" charset="0"/>
                <a:ea typeface="Calibri" pitchFamily="34" charset="-122"/>
                <a:cs typeface="Calibri" pitchFamily="34" charset="-120"/>
              </a:rPr>
              <a:t>Giriş Değişkenleri (Özellikler):</a:t>
            </a:r>
            <a:endParaRPr lang="en-US" sz="1100" dirty="0"/>
          </a:p>
        </p:txBody>
      </p:sp>
      <p:sp>
        <p:nvSpPr>
          <p:cNvPr id="6" name="Text 4"/>
          <p:cNvSpPr/>
          <p:nvPr/>
        </p:nvSpPr>
        <p:spPr>
          <a:xfrm>
            <a:off x="457200" y="1600200"/>
            <a:ext cx="4114800" cy="1463040"/>
          </a:xfrm>
          <a:prstGeom prst="rect">
            <a:avLst/>
          </a:prstGeom>
          <a:noFill/>
          <a:ln/>
        </p:spPr>
        <p:txBody>
          <a:bodyPr wrap="square" rtlCol="0" anchor="t"/>
          <a:lstStyle/>
          <a:p>
            <a:pPr marL="342900" indent="-342900">
              <a:lnSpc>
                <a:spcPts val="2200"/>
              </a:lnSpc>
              <a:buSzPct val="100000"/>
              <a:buChar char="•"/>
            </a:pPr>
            <a:r>
              <a:rPr lang="en-US" sz="1000" dirty="0">
                <a:solidFill>
                  <a:srgbClr val="1E1E1E"/>
                </a:solidFill>
                <a:latin typeface="Calibri" pitchFamily="34" charset="0"/>
                <a:ea typeface="Calibri" pitchFamily="34" charset="-122"/>
                <a:cs typeface="Calibri" pitchFamily="34" charset="-120"/>
              </a:rPr>
              <a:t>Mevcut lux seviyesi</a:t>
            </a:r>
            <a:endParaRPr lang="en-US" sz="1000" dirty="0"/>
          </a:p>
          <a:p>
            <a:pPr marL="342900" indent="-342900">
              <a:lnSpc>
                <a:spcPts val="2200"/>
              </a:lnSpc>
              <a:buSzPct val="100000"/>
              <a:buChar char="•"/>
            </a:pPr>
            <a:r>
              <a:rPr lang="en-US" sz="1000" dirty="0">
                <a:solidFill>
                  <a:srgbClr val="1E1E1E"/>
                </a:solidFill>
                <a:latin typeface="Calibri" pitchFamily="34" charset="0"/>
                <a:ea typeface="Calibri" pitchFamily="34" charset="-122"/>
                <a:cs typeface="Calibri" pitchFamily="34" charset="-120"/>
              </a:rPr>
              <a:t>Hedef lux değeri</a:t>
            </a:r>
            <a:endParaRPr lang="en-US" sz="1000" dirty="0"/>
          </a:p>
          <a:p>
            <a:pPr marL="342900" indent="-342900">
              <a:lnSpc>
                <a:spcPts val="2200"/>
              </a:lnSpc>
              <a:buSzPct val="100000"/>
              <a:buChar char="•"/>
            </a:pPr>
            <a:r>
              <a:rPr lang="en-US" sz="1000" dirty="0">
                <a:solidFill>
                  <a:srgbClr val="1E1E1E"/>
                </a:solidFill>
                <a:latin typeface="Calibri" pitchFamily="34" charset="0"/>
                <a:ea typeface="Calibri" pitchFamily="34" charset="-122"/>
                <a:cs typeface="Calibri" pitchFamily="34" charset="-120"/>
              </a:rPr>
              <a:t>Işık başlangıç saati</a:t>
            </a:r>
            <a:endParaRPr lang="en-US" sz="1000" dirty="0"/>
          </a:p>
          <a:p>
            <a:pPr marL="342900" indent="-342900">
              <a:lnSpc>
                <a:spcPts val="2200"/>
              </a:lnSpc>
              <a:buSzPct val="100000"/>
              <a:buChar char="•"/>
            </a:pPr>
            <a:r>
              <a:rPr lang="en-US" sz="1000" dirty="0">
                <a:solidFill>
                  <a:srgbClr val="1E1E1E"/>
                </a:solidFill>
                <a:latin typeface="Calibri" pitchFamily="34" charset="0"/>
                <a:ea typeface="Calibri" pitchFamily="34" charset="-122"/>
                <a:cs typeface="Calibri" pitchFamily="34" charset="-120"/>
              </a:rPr>
              <a:t>Işık süresi (saat)</a:t>
            </a:r>
            <a:endParaRPr lang="en-US" sz="1000" dirty="0"/>
          </a:p>
          <a:p>
            <a:pPr marL="342900" indent="-342900">
              <a:lnSpc>
                <a:spcPts val="2200"/>
              </a:lnSpc>
              <a:buSzPct val="100000"/>
              <a:buChar char="•"/>
            </a:pPr>
            <a:r>
              <a:rPr lang="en-US" sz="1000" dirty="0">
                <a:solidFill>
                  <a:srgbClr val="1E1E1E"/>
                </a:solidFill>
                <a:latin typeface="Calibri" pitchFamily="34" charset="0"/>
                <a:ea typeface="Calibri" pitchFamily="34" charset="-122"/>
                <a:cs typeface="Calibri" pitchFamily="34" charset="-120"/>
              </a:rPr>
              <a:t>Mevcut saat</a:t>
            </a:r>
            <a:endParaRPr lang="en-US" sz="1000" dirty="0"/>
          </a:p>
          <a:p>
            <a:pPr marL="342900" indent="-342900">
              <a:lnSpc>
                <a:spcPts val="2200"/>
              </a:lnSpc>
              <a:buSzPct val="100000"/>
              <a:buChar char="•"/>
            </a:pPr>
            <a:r>
              <a:rPr lang="en-US" sz="1000" dirty="0">
                <a:solidFill>
                  <a:srgbClr val="1E1E1E"/>
                </a:solidFill>
                <a:latin typeface="Calibri" pitchFamily="34" charset="0"/>
                <a:ea typeface="Calibri" pitchFamily="34" charset="-122"/>
                <a:cs typeface="Calibri" pitchFamily="34" charset="-120"/>
              </a:rPr>
              <a:t>Bitki türü</a:t>
            </a:r>
            <a:endParaRPr lang="en-US" sz="1000" dirty="0"/>
          </a:p>
        </p:txBody>
      </p:sp>
      <p:sp>
        <p:nvSpPr>
          <p:cNvPr id="7" name="Text 5"/>
          <p:cNvSpPr/>
          <p:nvPr/>
        </p:nvSpPr>
        <p:spPr>
          <a:xfrm>
            <a:off x="4846320" y="1280160"/>
            <a:ext cx="3840480" cy="274320"/>
          </a:xfrm>
          <a:prstGeom prst="rect">
            <a:avLst/>
          </a:prstGeom>
          <a:noFill/>
          <a:ln/>
        </p:spPr>
        <p:txBody>
          <a:bodyPr wrap="square" rtlCol="0" anchor="ctr"/>
          <a:lstStyle/>
          <a:p>
            <a:pPr marL="0" indent="0">
              <a:buNone/>
            </a:pPr>
            <a:r>
              <a:rPr lang="en-US" sz="1100" b="1" dirty="0">
                <a:solidFill>
                  <a:srgbClr val="1B5E20"/>
                </a:solidFill>
                <a:latin typeface="Calibri" pitchFamily="34" charset="0"/>
                <a:ea typeface="Calibri" pitchFamily="34" charset="-122"/>
                <a:cs typeface="Calibri" pitchFamily="34" charset="-120"/>
              </a:rPr>
              <a:t>Çıktı:</a:t>
            </a:r>
            <a:endParaRPr lang="en-US" sz="1100" dirty="0"/>
          </a:p>
        </p:txBody>
      </p:sp>
      <p:sp>
        <p:nvSpPr>
          <p:cNvPr id="8" name="Shape 6"/>
          <p:cNvSpPr/>
          <p:nvPr/>
        </p:nvSpPr>
        <p:spPr>
          <a:xfrm>
            <a:off x="4846320" y="1600200"/>
            <a:ext cx="3840480" cy="457200"/>
          </a:xfrm>
          <a:prstGeom prst="rect">
            <a:avLst/>
          </a:prstGeom>
          <a:solidFill>
            <a:srgbClr val="A5D6A7"/>
          </a:solidFill>
          <a:ln/>
        </p:spPr>
      </p:sp>
      <p:sp>
        <p:nvSpPr>
          <p:cNvPr id="9" name="Text 7"/>
          <p:cNvSpPr/>
          <p:nvPr/>
        </p:nvSpPr>
        <p:spPr>
          <a:xfrm>
            <a:off x="4937760" y="1600200"/>
            <a:ext cx="3657600" cy="457200"/>
          </a:xfrm>
          <a:prstGeom prst="rect">
            <a:avLst/>
          </a:prstGeom>
          <a:noFill/>
          <a:ln/>
        </p:spPr>
        <p:txBody>
          <a:bodyPr wrap="square" lIns="0" tIns="0" rIns="0" bIns="0" rtlCol="0" anchor="ctr"/>
          <a:lstStyle/>
          <a:p>
            <a:pPr marL="0" indent="0" algn="ctr">
              <a:buNone/>
            </a:pPr>
            <a:r>
              <a:rPr lang="en-US" sz="1100" b="1" dirty="0">
                <a:solidFill>
                  <a:srgbClr val="1E1E1E"/>
                </a:solidFill>
                <a:latin typeface="Calibri" pitchFamily="34" charset="0"/>
                <a:ea typeface="Calibri" pitchFamily="34" charset="-122"/>
                <a:cs typeface="Calibri" pitchFamily="34" charset="-120"/>
              </a:rPr>
              <a:t>LED AÇ / LED KAPAT</a:t>
            </a:r>
            <a:endParaRPr lang="en-US" sz="1100" dirty="0"/>
          </a:p>
        </p:txBody>
      </p:sp>
      <p:sp>
        <p:nvSpPr>
          <p:cNvPr id="10" name="Text 8"/>
          <p:cNvSpPr/>
          <p:nvPr/>
        </p:nvSpPr>
        <p:spPr>
          <a:xfrm>
            <a:off x="4846320" y="2148840"/>
            <a:ext cx="3840480" cy="274320"/>
          </a:xfrm>
          <a:prstGeom prst="rect">
            <a:avLst/>
          </a:prstGeom>
          <a:noFill/>
          <a:ln/>
        </p:spPr>
        <p:txBody>
          <a:bodyPr wrap="square" rtlCol="0" anchor="ctr"/>
          <a:lstStyle/>
          <a:p>
            <a:pPr marL="0" indent="0">
              <a:buNone/>
            </a:pPr>
            <a:r>
              <a:rPr lang="en-US" sz="1100" b="1" dirty="0">
                <a:solidFill>
                  <a:srgbClr val="1B5E20"/>
                </a:solidFill>
                <a:latin typeface="Calibri" pitchFamily="34" charset="0"/>
                <a:ea typeface="Calibri" pitchFamily="34" charset="-122"/>
                <a:cs typeface="Calibri" pitchFamily="34" charset="-120"/>
              </a:rPr>
              <a:t>Eğitim Verisi:</a:t>
            </a:r>
            <a:endParaRPr lang="en-US" sz="1100" dirty="0"/>
          </a:p>
        </p:txBody>
      </p:sp>
      <p:sp>
        <p:nvSpPr>
          <p:cNvPr id="11" name="Text 9"/>
          <p:cNvSpPr/>
          <p:nvPr/>
        </p:nvSpPr>
        <p:spPr>
          <a:xfrm>
            <a:off x="4846320" y="2468880"/>
            <a:ext cx="3840480" cy="1280160"/>
          </a:xfrm>
          <a:prstGeom prst="rect">
            <a:avLst/>
          </a:prstGeom>
          <a:noFill/>
          <a:ln/>
        </p:spPr>
        <p:txBody>
          <a:bodyPr wrap="square" rtlCol="0" anchor="t"/>
          <a:lstStyle/>
          <a:p>
            <a:pPr marL="342900" indent="-342900">
              <a:lnSpc>
                <a:spcPts val="2200"/>
              </a:lnSpc>
              <a:buSzPct val="100000"/>
              <a:buChar char="•"/>
            </a:pPr>
            <a:r>
              <a:rPr lang="en-US" sz="1000" dirty="0">
                <a:solidFill>
                  <a:srgbClr val="1E1E1E"/>
                </a:solidFill>
                <a:latin typeface="Calibri" pitchFamily="34" charset="0"/>
                <a:ea typeface="Calibri" pitchFamily="34" charset="-122"/>
                <a:cs typeface="Calibri" pitchFamily="34" charset="-120"/>
              </a:rPr>
              <a:t>341 gerçek sensör/veritabanı kaydı</a:t>
            </a:r>
            <a:endParaRPr lang="en-US" sz="1000" dirty="0"/>
          </a:p>
          <a:p>
            <a:pPr marL="342900" indent="-342900">
              <a:lnSpc>
                <a:spcPts val="2200"/>
              </a:lnSpc>
              <a:buSzPct val="100000"/>
              <a:buChar char="•"/>
            </a:pPr>
            <a:r>
              <a:rPr lang="en-US" sz="1000" dirty="0">
                <a:solidFill>
                  <a:srgbClr val="1E1E1E"/>
                </a:solidFill>
                <a:latin typeface="Calibri" pitchFamily="34" charset="0"/>
                <a:ea typeface="Calibri" pitchFamily="34" charset="-122"/>
                <a:cs typeface="Calibri" pitchFamily="34" charset="-120"/>
              </a:rPr>
              <a:t>1500 sentetik eğitim verisi</a:t>
            </a:r>
            <a:endParaRPr lang="en-US" sz="1000" dirty="0"/>
          </a:p>
          <a:p>
            <a:pPr marL="342900" indent="-342900">
              <a:lnSpc>
                <a:spcPts val="2200"/>
              </a:lnSpc>
              <a:buSzPct val="100000"/>
              <a:buChar char="•"/>
            </a:pPr>
            <a:r>
              <a:rPr lang="en-US" sz="1000" dirty="0">
                <a:solidFill>
                  <a:srgbClr val="1E1E1E"/>
                </a:solidFill>
                <a:latin typeface="Calibri" pitchFamily="34" charset="0"/>
                <a:ea typeface="Calibri" pitchFamily="34" charset="-122"/>
                <a:cs typeface="Calibri" pitchFamily="34" charset="-120"/>
              </a:rPr>
              <a:t>Sentetik veriye sensör gürültüsü eklendi</a:t>
            </a:r>
            <a:endParaRPr lang="en-US" sz="1000" dirty="0"/>
          </a:p>
          <a:p>
            <a:pPr marL="342900" indent="-342900">
              <a:lnSpc>
                <a:spcPts val="2200"/>
              </a:lnSpc>
              <a:buSzPct val="100000"/>
              <a:buChar char="•"/>
            </a:pPr>
            <a:r>
              <a:rPr lang="en-US" sz="1000" dirty="0">
                <a:solidFill>
                  <a:srgbClr val="1E1E1E"/>
                </a:solidFill>
                <a:latin typeface="Calibri" pitchFamily="34" charset="0"/>
                <a:ea typeface="Calibri" pitchFamily="34" charset="-122"/>
                <a:cs typeface="Calibri" pitchFamily="34" charset="-120"/>
              </a:rPr>
              <a:t>Eşik çevresi belirsizliği için veri artırması</a:t>
            </a:r>
            <a:endParaRPr lang="en-US" sz="1000" dirty="0"/>
          </a:p>
        </p:txBody>
      </p:sp>
      <p:sp>
        <p:nvSpPr>
          <p:cNvPr id="12" name="Text 10"/>
          <p:cNvSpPr/>
          <p:nvPr/>
        </p:nvSpPr>
        <p:spPr>
          <a:xfrm>
            <a:off x="457200" y="3291840"/>
            <a:ext cx="8229600" cy="274320"/>
          </a:xfrm>
          <a:prstGeom prst="rect">
            <a:avLst/>
          </a:prstGeom>
          <a:noFill/>
          <a:ln/>
        </p:spPr>
        <p:txBody>
          <a:bodyPr wrap="square" rtlCol="0" anchor="ctr"/>
          <a:lstStyle/>
          <a:p>
            <a:pPr marL="0" indent="0">
              <a:buNone/>
            </a:pPr>
            <a:r>
              <a:rPr lang="en-US" sz="1200" b="1" dirty="0">
                <a:solidFill>
                  <a:srgbClr val="1B5E20"/>
                </a:solidFill>
                <a:latin typeface="Calibri" pitchFamily="34" charset="0"/>
                <a:ea typeface="Calibri" pitchFamily="34" charset="-122"/>
                <a:cs typeface="Calibri" pitchFamily="34" charset="-120"/>
              </a:rPr>
              <a:t>Model Performansı:</a:t>
            </a:r>
            <a:endParaRPr lang="en-US" sz="1200" dirty="0"/>
          </a:p>
        </p:txBody>
      </p:sp>
      <p:sp>
        <p:nvSpPr>
          <p:cNvPr id="13" name="Shape 11"/>
          <p:cNvSpPr/>
          <p:nvPr/>
        </p:nvSpPr>
        <p:spPr>
          <a:xfrm>
            <a:off x="457200" y="3657600"/>
            <a:ext cx="1828800" cy="731520"/>
          </a:xfrm>
          <a:prstGeom prst="roundRect">
            <a:avLst>
              <a:gd name="adj" fmla="val 10000"/>
            </a:avLst>
          </a:prstGeom>
          <a:solidFill>
            <a:srgbClr val="27AE60"/>
          </a:solidFill>
          <a:ln/>
        </p:spPr>
      </p:sp>
      <p:sp>
        <p:nvSpPr>
          <p:cNvPr id="14" name="Text 12"/>
          <p:cNvSpPr/>
          <p:nvPr/>
        </p:nvSpPr>
        <p:spPr>
          <a:xfrm>
            <a:off x="457200" y="3703320"/>
            <a:ext cx="18288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95.12%</a:t>
            </a:r>
            <a:endParaRPr lang="en-US" sz="1400" dirty="0"/>
          </a:p>
        </p:txBody>
      </p:sp>
      <p:sp>
        <p:nvSpPr>
          <p:cNvPr id="15" name="Text 13"/>
          <p:cNvSpPr/>
          <p:nvPr/>
        </p:nvSpPr>
        <p:spPr>
          <a:xfrm>
            <a:off x="457200" y="4069080"/>
            <a:ext cx="1828800" cy="27432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Accuracy</a:t>
            </a:r>
            <a:endParaRPr lang="en-US" sz="1000" dirty="0"/>
          </a:p>
        </p:txBody>
      </p:sp>
      <p:sp>
        <p:nvSpPr>
          <p:cNvPr id="16" name="Shape 14"/>
          <p:cNvSpPr/>
          <p:nvPr/>
        </p:nvSpPr>
        <p:spPr>
          <a:xfrm>
            <a:off x="2514600" y="3657600"/>
            <a:ext cx="1828800" cy="731520"/>
          </a:xfrm>
          <a:prstGeom prst="roundRect">
            <a:avLst>
              <a:gd name="adj" fmla="val 10000"/>
            </a:avLst>
          </a:prstGeom>
          <a:solidFill>
            <a:srgbClr val="27AE60"/>
          </a:solidFill>
          <a:ln/>
        </p:spPr>
      </p:sp>
      <p:sp>
        <p:nvSpPr>
          <p:cNvPr id="17" name="Text 15"/>
          <p:cNvSpPr/>
          <p:nvPr/>
        </p:nvSpPr>
        <p:spPr>
          <a:xfrm>
            <a:off x="2514600" y="3703320"/>
            <a:ext cx="18288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93-97%</a:t>
            </a:r>
            <a:endParaRPr lang="en-US" sz="1400" dirty="0"/>
          </a:p>
        </p:txBody>
      </p:sp>
      <p:sp>
        <p:nvSpPr>
          <p:cNvPr id="18" name="Text 16"/>
          <p:cNvSpPr/>
          <p:nvPr/>
        </p:nvSpPr>
        <p:spPr>
          <a:xfrm>
            <a:off x="2514600" y="4069080"/>
            <a:ext cx="1828800" cy="27432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Precision</a:t>
            </a:r>
            <a:endParaRPr lang="en-US" sz="1000" dirty="0"/>
          </a:p>
        </p:txBody>
      </p:sp>
      <p:sp>
        <p:nvSpPr>
          <p:cNvPr id="19" name="Shape 17"/>
          <p:cNvSpPr/>
          <p:nvPr/>
        </p:nvSpPr>
        <p:spPr>
          <a:xfrm>
            <a:off x="4572000" y="3657600"/>
            <a:ext cx="1828800" cy="731520"/>
          </a:xfrm>
          <a:prstGeom prst="roundRect">
            <a:avLst>
              <a:gd name="adj" fmla="val 10000"/>
            </a:avLst>
          </a:prstGeom>
          <a:solidFill>
            <a:srgbClr val="27AE60"/>
          </a:solidFill>
          <a:ln/>
        </p:spPr>
      </p:sp>
      <p:sp>
        <p:nvSpPr>
          <p:cNvPr id="20" name="Text 18"/>
          <p:cNvSpPr/>
          <p:nvPr/>
        </p:nvSpPr>
        <p:spPr>
          <a:xfrm>
            <a:off x="4572000" y="3703320"/>
            <a:ext cx="18288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93-97%</a:t>
            </a:r>
            <a:endParaRPr lang="en-US" sz="1400" dirty="0"/>
          </a:p>
        </p:txBody>
      </p:sp>
      <p:sp>
        <p:nvSpPr>
          <p:cNvPr id="21" name="Text 19"/>
          <p:cNvSpPr/>
          <p:nvPr/>
        </p:nvSpPr>
        <p:spPr>
          <a:xfrm>
            <a:off x="4572000" y="4069080"/>
            <a:ext cx="1828800" cy="27432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Recall</a:t>
            </a:r>
            <a:endParaRPr lang="en-US" sz="1000" dirty="0"/>
          </a:p>
        </p:txBody>
      </p:sp>
      <p:sp>
        <p:nvSpPr>
          <p:cNvPr id="22" name="Shape 20"/>
          <p:cNvSpPr/>
          <p:nvPr/>
        </p:nvSpPr>
        <p:spPr>
          <a:xfrm>
            <a:off x="6629400" y="3657600"/>
            <a:ext cx="1828800" cy="731520"/>
          </a:xfrm>
          <a:prstGeom prst="roundRect">
            <a:avLst>
              <a:gd name="adj" fmla="val 10000"/>
            </a:avLst>
          </a:prstGeom>
          <a:solidFill>
            <a:srgbClr val="27AE60"/>
          </a:solidFill>
          <a:ln/>
        </p:spPr>
      </p:sp>
      <p:sp>
        <p:nvSpPr>
          <p:cNvPr id="23" name="Text 21"/>
          <p:cNvSpPr/>
          <p:nvPr/>
        </p:nvSpPr>
        <p:spPr>
          <a:xfrm>
            <a:off x="6629400" y="3703320"/>
            <a:ext cx="18288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93-97%</a:t>
            </a:r>
            <a:endParaRPr lang="en-US" sz="1400" dirty="0"/>
          </a:p>
        </p:txBody>
      </p:sp>
      <p:sp>
        <p:nvSpPr>
          <p:cNvPr id="24" name="Text 22"/>
          <p:cNvSpPr/>
          <p:nvPr/>
        </p:nvSpPr>
        <p:spPr>
          <a:xfrm>
            <a:off x="6629400" y="4069080"/>
            <a:ext cx="1828800" cy="27432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F1-Score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9F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B5E20"/>
          </a:solidFill>
          <a:ln/>
        </p:spPr>
      </p:sp>
      <p:sp>
        <p:nvSpPr>
          <p:cNvPr id="3" name="Text 1"/>
          <p:cNvSpPr/>
          <p:nvPr/>
        </p:nvSpPr>
        <p:spPr>
          <a:xfrm>
            <a:off x="457200" y="0"/>
            <a:ext cx="8229600" cy="73152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OpenWeather API Entegrasyonu</a:t>
            </a:r>
            <a:endParaRPr lang="en-US" sz="3600" dirty="0"/>
          </a:p>
        </p:txBody>
      </p:sp>
      <p:sp>
        <p:nvSpPr>
          <p:cNvPr id="4" name="Text 2"/>
          <p:cNvSpPr/>
          <p:nvPr/>
        </p:nvSpPr>
        <p:spPr>
          <a:xfrm>
            <a:off x="457200" y="914400"/>
            <a:ext cx="8229600" cy="320040"/>
          </a:xfrm>
          <a:prstGeom prst="rect">
            <a:avLst/>
          </a:prstGeom>
          <a:noFill/>
          <a:ln/>
        </p:spPr>
        <p:txBody>
          <a:bodyPr wrap="square" rtlCol="0" anchor="ctr"/>
          <a:lstStyle/>
          <a:p>
            <a:pPr marL="0" indent="0">
              <a:buNone/>
            </a:pPr>
            <a:r>
              <a:rPr lang="en-US" sz="1400" b="1" dirty="0">
                <a:solidFill>
                  <a:srgbClr val="1B5E20"/>
                </a:solidFill>
                <a:latin typeface="Calibri" pitchFamily="34" charset="0"/>
                <a:ea typeface="Calibri" pitchFamily="34" charset="-122"/>
                <a:cs typeface="Calibri" pitchFamily="34" charset="-120"/>
              </a:rPr>
              <a:t>Bursa Hava Durumu Verileri:</a:t>
            </a:r>
            <a:endParaRPr lang="en-US" sz="1400" dirty="0"/>
          </a:p>
        </p:txBody>
      </p:sp>
      <p:sp>
        <p:nvSpPr>
          <p:cNvPr id="5" name="Shape 3"/>
          <p:cNvSpPr/>
          <p:nvPr/>
        </p:nvSpPr>
        <p:spPr>
          <a:xfrm>
            <a:off x="548640" y="1371600"/>
            <a:ext cx="2560320" cy="777240"/>
          </a:xfrm>
          <a:prstGeom prst="roundRect">
            <a:avLst>
              <a:gd name="adj" fmla="val 9412"/>
            </a:avLst>
          </a:prstGeom>
          <a:solidFill>
            <a:srgbClr val="FFFFFF"/>
          </a:solidFill>
          <a:ln w="25400">
            <a:solidFill>
              <a:srgbClr val="A5D6A7"/>
            </a:solidFill>
            <a:prstDash val="solid"/>
          </a:ln>
        </p:spPr>
      </p:sp>
      <p:sp>
        <p:nvSpPr>
          <p:cNvPr id="6" name="Text 4"/>
          <p:cNvSpPr/>
          <p:nvPr/>
        </p:nvSpPr>
        <p:spPr>
          <a:xfrm>
            <a:off x="548640" y="1508760"/>
            <a:ext cx="2560320" cy="502920"/>
          </a:xfrm>
          <a:prstGeom prst="rect">
            <a:avLst/>
          </a:prstGeom>
          <a:noFill/>
          <a:ln/>
        </p:spPr>
        <p:txBody>
          <a:bodyPr wrap="square" lIns="0" tIns="0" rIns="0" bIns="0" rtlCol="0" anchor="ctr"/>
          <a:lstStyle/>
          <a:p>
            <a:pPr marL="0" indent="0" algn="ctr">
              <a:buNone/>
            </a:pPr>
            <a:r>
              <a:rPr lang="en-US" sz="1100" b="1" dirty="0">
                <a:solidFill>
                  <a:srgbClr val="1E1E1E"/>
                </a:solidFill>
                <a:latin typeface="Calibri" pitchFamily="34" charset="0"/>
                <a:ea typeface="Calibri" pitchFamily="34" charset="-122"/>
                <a:cs typeface="Calibri" pitchFamily="34" charset="-120"/>
              </a:rPr>
              <a:t>Dış Sıcaklık</a:t>
            </a:r>
            <a:endParaRPr lang="en-US" sz="1100" dirty="0"/>
          </a:p>
        </p:txBody>
      </p:sp>
      <p:sp>
        <p:nvSpPr>
          <p:cNvPr id="7" name="Shape 5"/>
          <p:cNvSpPr/>
          <p:nvPr/>
        </p:nvSpPr>
        <p:spPr>
          <a:xfrm>
            <a:off x="3383280" y="1371600"/>
            <a:ext cx="2560320" cy="777240"/>
          </a:xfrm>
          <a:prstGeom prst="roundRect">
            <a:avLst>
              <a:gd name="adj" fmla="val 9412"/>
            </a:avLst>
          </a:prstGeom>
          <a:solidFill>
            <a:srgbClr val="FFFFFF"/>
          </a:solidFill>
          <a:ln w="25400">
            <a:solidFill>
              <a:srgbClr val="A5D6A7"/>
            </a:solidFill>
            <a:prstDash val="solid"/>
          </a:ln>
        </p:spPr>
      </p:sp>
      <p:sp>
        <p:nvSpPr>
          <p:cNvPr id="8" name="Text 6"/>
          <p:cNvSpPr/>
          <p:nvPr/>
        </p:nvSpPr>
        <p:spPr>
          <a:xfrm>
            <a:off x="3383280" y="1508760"/>
            <a:ext cx="2560320" cy="502920"/>
          </a:xfrm>
          <a:prstGeom prst="rect">
            <a:avLst/>
          </a:prstGeom>
          <a:noFill/>
          <a:ln/>
        </p:spPr>
        <p:txBody>
          <a:bodyPr wrap="square" lIns="0" tIns="0" rIns="0" bIns="0" rtlCol="0" anchor="ctr"/>
          <a:lstStyle/>
          <a:p>
            <a:pPr marL="0" indent="0" algn="ctr">
              <a:buNone/>
            </a:pPr>
            <a:r>
              <a:rPr lang="en-US" sz="1100" b="1" dirty="0">
                <a:solidFill>
                  <a:srgbClr val="1E1E1E"/>
                </a:solidFill>
                <a:latin typeface="Calibri" pitchFamily="34" charset="0"/>
                <a:ea typeface="Calibri" pitchFamily="34" charset="-122"/>
                <a:cs typeface="Calibri" pitchFamily="34" charset="-120"/>
              </a:rPr>
              <a:t>Nispi Nem</a:t>
            </a:r>
            <a:endParaRPr lang="en-US" sz="1100" dirty="0"/>
          </a:p>
        </p:txBody>
      </p:sp>
      <p:sp>
        <p:nvSpPr>
          <p:cNvPr id="9" name="Shape 7"/>
          <p:cNvSpPr/>
          <p:nvPr/>
        </p:nvSpPr>
        <p:spPr>
          <a:xfrm>
            <a:off x="6217920" y="1371600"/>
            <a:ext cx="2560320" cy="777240"/>
          </a:xfrm>
          <a:prstGeom prst="roundRect">
            <a:avLst>
              <a:gd name="adj" fmla="val 9412"/>
            </a:avLst>
          </a:prstGeom>
          <a:solidFill>
            <a:srgbClr val="FFFFFF"/>
          </a:solidFill>
          <a:ln w="25400">
            <a:solidFill>
              <a:srgbClr val="A5D6A7"/>
            </a:solidFill>
            <a:prstDash val="solid"/>
          </a:ln>
        </p:spPr>
      </p:sp>
      <p:sp>
        <p:nvSpPr>
          <p:cNvPr id="10" name="Text 8"/>
          <p:cNvSpPr/>
          <p:nvPr/>
        </p:nvSpPr>
        <p:spPr>
          <a:xfrm>
            <a:off x="6217920" y="1508760"/>
            <a:ext cx="2560320" cy="502920"/>
          </a:xfrm>
          <a:prstGeom prst="rect">
            <a:avLst/>
          </a:prstGeom>
          <a:noFill/>
          <a:ln/>
        </p:spPr>
        <p:txBody>
          <a:bodyPr wrap="square" lIns="0" tIns="0" rIns="0" bIns="0" rtlCol="0" anchor="ctr"/>
          <a:lstStyle/>
          <a:p>
            <a:pPr marL="0" indent="0" algn="ctr">
              <a:buNone/>
            </a:pPr>
            <a:r>
              <a:rPr lang="en-US" sz="1100" b="1" dirty="0">
                <a:solidFill>
                  <a:srgbClr val="1E1E1E"/>
                </a:solidFill>
                <a:latin typeface="Calibri" pitchFamily="34" charset="0"/>
                <a:ea typeface="Calibri" pitchFamily="34" charset="-122"/>
                <a:cs typeface="Calibri" pitchFamily="34" charset="-120"/>
              </a:rPr>
              <a:t>Bulutluluk Oranı</a:t>
            </a:r>
            <a:endParaRPr lang="en-US" sz="1100" dirty="0"/>
          </a:p>
        </p:txBody>
      </p:sp>
      <p:sp>
        <p:nvSpPr>
          <p:cNvPr id="11" name="Shape 9"/>
          <p:cNvSpPr/>
          <p:nvPr/>
        </p:nvSpPr>
        <p:spPr>
          <a:xfrm>
            <a:off x="548640" y="2286000"/>
            <a:ext cx="2560320" cy="777240"/>
          </a:xfrm>
          <a:prstGeom prst="roundRect">
            <a:avLst>
              <a:gd name="adj" fmla="val 9412"/>
            </a:avLst>
          </a:prstGeom>
          <a:solidFill>
            <a:srgbClr val="FFFFFF"/>
          </a:solidFill>
          <a:ln w="25400">
            <a:solidFill>
              <a:srgbClr val="A5D6A7"/>
            </a:solidFill>
            <a:prstDash val="solid"/>
          </a:ln>
        </p:spPr>
      </p:sp>
      <p:sp>
        <p:nvSpPr>
          <p:cNvPr id="12" name="Text 10"/>
          <p:cNvSpPr/>
          <p:nvPr/>
        </p:nvSpPr>
        <p:spPr>
          <a:xfrm>
            <a:off x="548640" y="2423160"/>
            <a:ext cx="2560320" cy="502920"/>
          </a:xfrm>
          <a:prstGeom prst="rect">
            <a:avLst/>
          </a:prstGeom>
          <a:noFill/>
          <a:ln/>
        </p:spPr>
        <p:txBody>
          <a:bodyPr wrap="square" lIns="0" tIns="0" rIns="0" bIns="0" rtlCol="0" anchor="ctr"/>
          <a:lstStyle/>
          <a:p>
            <a:pPr marL="0" indent="0" algn="ctr">
              <a:buNone/>
            </a:pPr>
            <a:r>
              <a:rPr lang="en-US" sz="1100" b="1" dirty="0">
                <a:solidFill>
                  <a:srgbClr val="1E1E1E"/>
                </a:solidFill>
                <a:latin typeface="Calibri" pitchFamily="34" charset="0"/>
                <a:ea typeface="Calibri" pitchFamily="34" charset="-122"/>
                <a:cs typeface="Calibri" pitchFamily="34" charset="-120"/>
              </a:rPr>
              <a:t>Rüzgâr Hızı</a:t>
            </a:r>
            <a:endParaRPr lang="en-US" sz="1100" dirty="0"/>
          </a:p>
        </p:txBody>
      </p:sp>
      <p:sp>
        <p:nvSpPr>
          <p:cNvPr id="13" name="Shape 11"/>
          <p:cNvSpPr/>
          <p:nvPr/>
        </p:nvSpPr>
        <p:spPr>
          <a:xfrm>
            <a:off x="3383280" y="2286000"/>
            <a:ext cx="2560320" cy="777240"/>
          </a:xfrm>
          <a:prstGeom prst="roundRect">
            <a:avLst>
              <a:gd name="adj" fmla="val 9412"/>
            </a:avLst>
          </a:prstGeom>
          <a:solidFill>
            <a:srgbClr val="FFFFFF"/>
          </a:solidFill>
          <a:ln w="25400">
            <a:solidFill>
              <a:srgbClr val="A5D6A7"/>
            </a:solidFill>
            <a:prstDash val="solid"/>
          </a:ln>
        </p:spPr>
      </p:sp>
      <p:sp>
        <p:nvSpPr>
          <p:cNvPr id="14" name="Text 12"/>
          <p:cNvSpPr/>
          <p:nvPr/>
        </p:nvSpPr>
        <p:spPr>
          <a:xfrm>
            <a:off x="3383280" y="2423160"/>
            <a:ext cx="2560320" cy="502920"/>
          </a:xfrm>
          <a:prstGeom prst="rect">
            <a:avLst/>
          </a:prstGeom>
          <a:noFill/>
          <a:ln/>
        </p:spPr>
        <p:txBody>
          <a:bodyPr wrap="square" lIns="0" tIns="0" rIns="0" bIns="0" rtlCol="0" anchor="ctr"/>
          <a:lstStyle/>
          <a:p>
            <a:pPr marL="0" indent="0" algn="ctr">
              <a:buNone/>
            </a:pPr>
            <a:r>
              <a:rPr lang="en-US" sz="1100" b="1" dirty="0">
                <a:solidFill>
                  <a:srgbClr val="1E1E1E"/>
                </a:solidFill>
                <a:latin typeface="Calibri" pitchFamily="34" charset="0"/>
                <a:ea typeface="Calibri" pitchFamily="34" charset="-122"/>
                <a:cs typeface="Calibri" pitchFamily="34" charset="-120"/>
              </a:rPr>
              <a:t>Gün Doğumu</a:t>
            </a:r>
            <a:endParaRPr lang="en-US" sz="1100" dirty="0"/>
          </a:p>
        </p:txBody>
      </p:sp>
      <p:sp>
        <p:nvSpPr>
          <p:cNvPr id="15" name="Shape 13"/>
          <p:cNvSpPr/>
          <p:nvPr/>
        </p:nvSpPr>
        <p:spPr>
          <a:xfrm>
            <a:off x="6217920" y="2286000"/>
            <a:ext cx="2560320" cy="777240"/>
          </a:xfrm>
          <a:prstGeom prst="roundRect">
            <a:avLst>
              <a:gd name="adj" fmla="val 9412"/>
            </a:avLst>
          </a:prstGeom>
          <a:solidFill>
            <a:srgbClr val="FFFFFF"/>
          </a:solidFill>
          <a:ln w="25400">
            <a:solidFill>
              <a:srgbClr val="A5D6A7"/>
            </a:solidFill>
            <a:prstDash val="solid"/>
          </a:ln>
        </p:spPr>
      </p:sp>
      <p:sp>
        <p:nvSpPr>
          <p:cNvPr id="16" name="Text 14"/>
          <p:cNvSpPr/>
          <p:nvPr/>
        </p:nvSpPr>
        <p:spPr>
          <a:xfrm>
            <a:off x="6217920" y="2423160"/>
            <a:ext cx="2560320" cy="502920"/>
          </a:xfrm>
          <a:prstGeom prst="rect">
            <a:avLst/>
          </a:prstGeom>
          <a:noFill/>
          <a:ln/>
        </p:spPr>
        <p:txBody>
          <a:bodyPr wrap="square" lIns="0" tIns="0" rIns="0" bIns="0" rtlCol="0" anchor="ctr"/>
          <a:lstStyle/>
          <a:p>
            <a:pPr marL="0" indent="0" algn="ctr">
              <a:buNone/>
            </a:pPr>
            <a:r>
              <a:rPr lang="en-US" sz="1100" b="1" dirty="0">
                <a:solidFill>
                  <a:srgbClr val="1E1E1E"/>
                </a:solidFill>
                <a:latin typeface="Calibri" pitchFamily="34" charset="0"/>
                <a:ea typeface="Calibri" pitchFamily="34" charset="-122"/>
                <a:cs typeface="Calibri" pitchFamily="34" charset="-120"/>
              </a:rPr>
              <a:t>Gün Batımı</a:t>
            </a:r>
            <a:endParaRPr lang="en-US" sz="1100" dirty="0"/>
          </a:p>
        </p:txBody>
      </p:sp>
      <p:sp>
        <p:nvSpPr>
          <p:cNvPr id="17" name="Text 15"/>
          <p:cNvSpPr/>
          <p:nvPr/>
        </p:nvSpPr>
        <p:spPr>
          <a:xfrm>
            <a:off x="457200" y="3291840"/>
            <a:ext cx="8229600" cy="274320"/>
          </a:xfrm>
          <a:prstGeom prst="rect">
            <a:avLst/>
          </a:prstGeom>
          <a:noFill/>
          <a:ln/>
        </p:spPr>
        <p:txBody>
          <a:bodyPr wrap="square" rtlCol="0" anchor="ctr"/>
          <a:lstStyle/>
          <a:p>
            <a:pPr marL="0" indent="0">
              <a:buNone/>
            </a:pPr>
            <a:r>
              <a:rPr lang="en-US" sz="1400" b="1" dirty="0">
                <a:solidFill>
                  <a:srgbClr val="1B5E20"/>
                </a:solidFill>
                <a:latin typeface="Calibri" pitchFamily="34" charset="0"/>
                <a:ea typeface="Calibri" pitchFamily="34" charset="-122"/>
                <a:cs typeface="Calibri" pitchFamily="34" charset="-120"/>
              </a:rPr>
              <a:t>Hava Durumunun Sisteme Katkısı:</a:t>
            </a:r>
            <a:endParaRPr lang="en-US" sz="1400" dirty="0"/>
          </a:p>
        </p:txBody>
      </p:sp>
      <p:sp>
        <p:nvSpPr>
          <p:cNvPr id="18" name="Text 16"/>
          <p:cNvSpPr/>
          <p:nvPr/>
        </p:nvSpPr>
        <p:spPr>
          <a:xfrm>
            <a:off x="640080" y="3657600"/>
            <a:ext cx="7863840" cy="1097280"/>
          </a:xfrm>
          <a:prstGeom prst="rect">
            <a:avLst/>
          </a:prstGeom>
          <a:noFill/>
          <a:ln/>
        </p:spPr>
        <p:txBody>
          <a:bodyPr wrap="square" rtlCol="0" anchor="t"/>
          <a:lstStyle/>
          <a:p>
            <a:pPr marL="342900" indent="-342900">
              <a:lnSpc>
                <a:spcPts val="2600"/>
              </a:lnSpc>
              <a:buSzPct val="100000"/>
              <a:buChar char="•"/>
            </a:pPr>
            <a:r>
              <a:rPr lang="en-US" sz="1100" dirty="0">
                <a:solidFill>
                  <a:srgbClr val="1E1E1E"/>
                </a:solidFill>
                <a:latin typeface="Calibri" pitchFamily="34" charset="0"/>
                <a:ea typeface="Calibri" pitchFamily="34" charset="-122"/>
                <a:cs typeface="Calibri" pitchFamily="34" charset="-120"/>
              </a:rPr>
              <a:t>Dış ortam bilgisi sisteme bağlamsal katkı sağlıyor</a:t>
            </a:r>
            <a:endParaRPr lang="en-US" sz="1100" dirty="0"/>
          </a:p>
          <a:p>
            <a:pPr marL="342900" indent="-342900">
              <a:lnSpc>
                <a:spcPts val="2600"/>
              </a:lnSpc>
              <a:buSzPct val="100000"/>
              <a:buChar char="•"/>
            </a:pPr>
            <a:r>
              <a:rPr lang="en-US" sz="1100" dirty="0">
                <a:solidFill>
                  <a:srgbClr val="1E1E1E"/>
                </a:solidFill>
                <a:latin typeface="Calibri" pitchFamily="34" charset="0"/>
                <a:ea typeface="Calibri" pitchFamily="34" charset="-122"/>
                <a:cs typeface="Calibri" pitchFamily="34" charset="-120"/>
              </a:rPr>
              <a:t>Bulutluluk ve gün doğumu/gün batımı ışık periyoduna referans olarak kullanılabilir</a:t>
            </a:r>
            <a:endParaRPr lang="en-US" sz="1100" dirty="0"/>
          </a:p>
          <a:p>
            <a:pPr marL="342900" indent="-342900">
              <a:lnSpc>
                <a:spcPts val="2600"/>
              </a:lnSpc>
              <a:buSzPct val="100000"/>
              <a:buChar char="•"/>
            </a:pPr>
            <a:r>
              <a:rPr lang="en-US" sz="1100" dirty="0">
                <a:solidFill>
                  <a:srgbClr val="1E1E1E"/>
                </a:solidFill>
                <a:latin typeface="Calibri" pitchFamily="34" charset="0"/>
                <a:ea typeface="Calibri" pitchFamily="34" charset="-122"/>
                <a:cs typeface="Calibri" pitchFamily="34" charset="-120"/>
              </a:rPr>
              <a:t>Nem ve sıcaklık bilgisi gelecekteki ML modellemesi için öncül bilgi</a:t>
            </a:r>
            <a:endParaRPr lang="en-US" sz="1100" dirty="0"/>
          </a:p>
          <a:p>
            <a:pPr marL="342900" indent="-342900">
              <a:lnSpc>
                <a:spcPts val="2600"/>
              </a:lnSpc>
              <a:buSzPct val="100000"/>
              <a:buChar char="•"/>
            </a:pPr>
            <a:r>
              <a:rPr lang="en-US" sz="1100" dirty="0">
                <a:solidFill>
                  <a:srgbClr val="1E1E1E"/>
                </a:solidFill>
                <a:latin typeface="Calibri" pitchFamily="34" charset="0"/>
                <a:ea typeface="Calibri" pitchFamily="34" charset="-122"/>
                <a:cs typeface="Calibri" pitchFamily="34" charset="-120"/>
              </a:rPr>
              <a:t>Sistem, açık hava şartlarına göre kararlarını iyileştirebilir</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9F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B5E20"/>
          </a:solidFill>
          <a:ln/>
        </p:spPr>
      </p:sp>
      <p:sp>
        <p:nvSpPr>
          <p:cNvPr id="3" name="Text 1"/>
          <p:cNvSpPr/>
          <p:nvPr/>
        </p:nvSpPr>
        <p:spPr>
          <a:xfrm>
            <a:off x="457200" y="0"/>
            <a:ext cx="8229600" cy="73152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Sonuç &amp; Gelecek Geliştirmeler</a:t>
            </a:r>
            <a:endParaRPr lang="en-US" sz="3600" dirty="0"/>
          </a:p>
        </p:txBody>
      </p:sp>
      <p:sp>
        <p:nvSpPr>
          <p:cNvPr id="4" name="Text 2"/>
          <p:cNvSpPr/>
          <p:nvPr/>
        </p:nvSpPr>
        <p:spPr>
          <a:xfrm>
            <a:off x="457200" y="914400"/>
            <a:ext cx="4114800" cy="320040"/>
          </a:xfrm>
          <a:prstGeom prst="rect">
            <a:avLst/>
          </a:prstGeom>
          <a:noFill/>
          <a:ln/>
        </p:spPr>
        <p:txBody>
          <a:bodyPr wrap="square" rtlCol="0" anchor="ctr"/>
          <a:lstStyle/>
          <a:p>
            <a:pPr marL="0" indent="0">
              <a:buNone/>
            </a:pPr>
            <a:r>
              <a:rPr lang="en-US" sz="1300" b="1" dirty="0">
                <a:solidFill>
                  <a:srgbClr val="1B5E20"/>
                </a:solidFill>
                <a:latin typeface="Calibri" pitchFamily="34" charset="0"/>
                <a:ea typeface="Calibri" pitchFamily="34" charset="-122"/>
                <a:cs typeface="Calibri" pitchFamily="34" charset="-120"/>
              </a:rPr>
              <a:t>Başarıyla Tamamlanan:</a:t>
            </a:r>
            <a:endParaRPr lang="en-US" sz="1300" dirty="0"/>
          </a:p>
        </p:txBody>
      </p:sp>
      <p:sp>
        <p:nvSpPr>
          <p:cNvPr id="5" name="Text 3"/>
          <p:cNvSpPr/>
          <p:nvPr/>
        </p:nvSpPr>
        <p:spPr>
          <a:xfrm>
            <a:off x="457200" y="1325880"/>
            <a:ext cx="4114800" cy="2560320"/>
          </a:xfrm>
          <a:prstGeom prst="rect">
            <a:avLst/>
          </a:prstGeom>
          <a:noFill/>
          <a:ln/>
        </p:spPr>
        <p:txBody>
          <a:bodyPr wrap="square" rtlCol="0" anchor="t"/>
          <a:lstStyle/>
          <a:p>
            <a:pPr marL="342900" indent="-342900">
              <a:lnSpc>
                <a:spcPts val="2400"/>
              </a:lnSpc>
              <a:buSzPct val="100000"/>
              <a:buChar char="•"/>
            </a:pPr>
            <a:r>
              <a:rPr lang="en-US" sz="1100" dirty="0">
                <a:solidFill>
                  <a:srgbClr val="1E1E1E"/>
                </a:solidFill>
                <a:latin typeface="Calibri" pitchFamily="34" charset="0"/>
                <a:ea typeface="Calibri" pitchFamily="34" charset="-122"/>
                <a:cs typeface="Calibri" pitchFamily="34" charset="-120"/>
              </a:rPr>
              <a:t>MQTT veri akışı sağlandı</a:t>
            </a:r>
            <a:endParaRPr lang="en-US" sz="1100" dirty="0"/>
          </a:p>
          <a:p>
            <a:pPr marL="342900" indent="-342900">
              <a:lnSpc>
                <a:spcPts val="2400"/>
              </a:lnSpc>
              <a:buSzPct val="100000"/>
              <a:buChar char="•"/>
            </a:pPr>
            <a:r>
              <a:rPr lang="en-US" sz="1100" dirty="0">
                <a:solidFill>
                  <a:srgbClr val="1E1E1E"/>
                </a:solidFill>
                <a:latin typeface="Calibri" pitchFamily="34" charset="0"/>
                <a:ea typeface="Calibri" pitchFamily="34" charset="-122"/>
                <a:cs typeface="Calibri" pitchFamily="34" charset="-120"/>
              </a:rPr>
              <a:t>Flask panel tamamlandı</a:t>
            </a:r>
            <a:endParaRPr lang="en-US" sz="1100" dirty="0"/>
          </a:p>
          <a:p>
            <a:pPr marL="342900" indent="-342900">
              <a:lnSpc>
                <a:spcPts val="2400"/>
              </a:lnSpc>
              <a:buSzPct val="100000"/>
              <a:buChar char="•"/>
            </a:pPr>
            <a:r>
              <a:rPr lang="en-US" sz="1100" dirty="0">
                <a:solidFill>
                  <a:srgbClr val="1E1E1E"/>
                </a:solidFill>
                <a:latin typeface="Calibri" pitchFamily="34" charset="0"/>
                <a:ea typeface="Calibri" pitchFamily="34" charset="-122"/>
                <a:cs typeface="Calibri" pitchFamily="34" charset="-120"/>
              </a:rPr>
              <a:t>Sensör kalibrasyonu yapıldı</a:t>
            </a:r>
            <a:endParaRPr lang="en-US" sz="1100" dirty="0"/>
          </a:p>
          <a:p>
            <a:pPr marL="342900" indent="-342900">
              <a:lnSpc>
                <a:spcPts val="2400"/>
              </a:lnSpc>
              <a:buSzPct val="100000"/>
              <a:buChar char="•"/>
            </a:pPr>
            <a:r>
              <a:rPr lang="en-US" sz="1100" dirty="0">
                <a:solidFill>
                  <a:srgbClr val="1E1E1E"/>
                </a:solidFill>
                <a:latin typeface="Calibri" pitchFamily="34" charset="0"/>
                <a:ea typeface="Calibri" pitchFamily="34" charset="-122"/>
                <a:cs typeface="Calibri" pitchFamily="34" charset="-120"/>
              </a:rPr>
              <a:t>Veritabanı yapısı oluşturuldu</a:t>
            </a:r>
            <a:endParaRPr lang="en-US" sz="1100" dirty="0"/>
          </a:p>
          <a:p>
            <a:pPr marL="342900" indent="-342900">
              <a:lnSpc>
                <a:spcPts val="2400"/>
              </a:lnSpc>
              <a:buSzPct val="100000"/>
              <a:buChar char="•"/>
            </a:pPr>
            <a:r>
              <a:rPr lang="en-US" sz="1100" dirty="0">
                <a:solidFill>
                  <a:srgbClr val="1E1E1E"/>
                </a:solidFill>
                <a:latin typeface="Calibri" pitchFamily="34" charset="0"/>
                <a:ea typeface="Calibri" pitchFamily="34" charset="-122"/>
                <a:cs typeface="Calibri" pitchFamily="34" charset="-120"/>
              </a:rPr>
              <a:t>ML modeli eğitildi ve test edildi</a:t>
            </a:r>
            <a:endParaRPr lang="en-US" sz="1100" dirty="0"/>
          </a:p>
          <a:p>
            <a:pPr marL="342900" indent="-342900">
              <a:lnSpc>
                <a:spcPts val="2400"/>
              </a:lnSpc>
              <a:buSzPct val="100000"/>
              <a:buChar char="•"/>
            </a:pPr>
            <a:r>
              <a:rPr lang="en-US" sz="1100" dirty="0">
                <a:solidFill>
                  <a:srgbClr val="1E1E1E"/>
                </a:solidFill>
                <a:latin typeface="Calibri" pitchFamily="34" charset="0"/>
                <a:ea typeface="Calibri" pitchFamily="34" charset="-122"/>
                <a:cs typeface="Calibri" pitchFamily="34" charset="-120"/>
              </a:rPr>
              <a:t>Bitki profilleri tanımlandı</a:t>
            </a:r>
            <a:endParaRPr lang="en-US" sz="1100" dirty="0"/>
          </a:p>
          <a:p>
            <a:pPr marL="342900" indent="-342900">
              <a:lnSpc>
                <a:spcPts val="2400"/>
              </a:lnSpc>
              <a:buSzPct val="100000"/>
              <a:buChar char="•"/>
            </a:pPr>
            <a:r>
              <a:rPr lang="en-US" sz="1100" dirty="0">
                <a:solidFill>
                  <a:srgbClr val="1E1E1E"/>
                </a:solidFill>
                <a:latin typeface="Calibri" pitchFamily="34" charset="0"/>
                <a:ea typeface="Calibri" pitchFamily="34" charset="-122"/>
                <a:cs typeface="Calibri" pitchFamily="34" charset="-120"/>
              </a:rPr>
              <a:t>Hava durumu API entegrasyonu</a:t>
            </a:r>
            <a:endParaRPr lang="en-US" sz="1100" dirty="0"/>
          </a:p>
        </p:txBody>
      </p:sp>
      <p:sp>
        <p:nvSpPr>
          <p:cNvPr id="6" name="Text 4"/>
          <p:cNvSpPr/>
          <p:nvPr/>
        </p:nvSpPr>
        <p:spPr>
          <a:xfrm>
            <a:off x="4846320" y="914400"/>
            <a:ext cx="3840480" cy="320040"/>
          </a:xfrm>
          <a:prstGeom prst="rect">
            <a:avLst/>
          </a:prstGeom>
          <a:noFill/>
          <a:ln/>
        </p:spPr>
        <p:txBody>
          <a:bodyPr wrap="square" rtlCol="0" anchor="ctr"/>
          <a:lstStyle/>
          <a:p>
            <a:pPr marL="0" indent="0">
              <a:buNone/>
            </a:pPr>
            <a:r>
              <a:rPr lang="en-US" sz="1300" b="1" dirty="0">
                <a:solidFill>
                  <a:srgbClr val="1B5E20"/>
                </a:solidFill>
                <a:latin typeface="Calibri" pitchFamily="34" charset="0"/>
                <a:ea typeface="Calibri" pitchFamily="34" charset="-122"/>
                <a:cs typeface="Calibri" pitchFamily="34" charset="-120"/>
              </a:rPr>
              <a:t>Gelecek Geliştirmeler:</a:t>
            </a:r>
            <a:endParaRPr lang="en-US" sz="1300" dirty="0"/>
          </a:p>
        </p:txBody>
      </p:sp>
      <p:sp>
        <p:nvSpPr>
          <p:cNvPr id="7" name="Text 5"/>
          <p:cNvSpPr/>
          <p:nvPr/>
        </p:nvSpPr>
        <p:spPr>
          <a:xfrm>
            <a:off x="4846320" y="1325880"/>
            <a:ext cx="3840480" cy="2560320"/>
          </a:xfrm>
          <a:prstGeom prst="rect">
            <a:avLst/>
          </a:prstGeom>
          <a:noFill/>
          <a:ln/>
        </p:spPr>
        <p:txBody>
          <a:bodyPr wrap="square" rtlCol="0" anchor="t"/>
          <a:lstStyle/>
          <a:p>
            <a:pPr marL="342900" indent="-342900">
              <a:lnSpc>
                <a:spcPts val="2400"/>
              </a:lnSpc>
              <a:buSzPct val="100000"/>
              <a:buChar char="•"/>
            </a:pPr>
            <a:r>
              <a:rPr lang="en-US" sz="1100" dirty="0">
                <a:solidFill>
                  <a:srgbClr val="1E1E1E"/>
                </a:solidFill>
                <a:latin typeface="Calibri" pitchFamily="34" charset="0"/>
                <a:ea typeface="Calibri" pitchFamily="34" charset="-122"/>
                <a:cs typeface="Calibri" pitchFamily="34" charset="-120"/>
              </a:rPr>
              <a:t>PWM ile güneş simülasyonu (LED yoğunluğu kontrolü)</a:t>
            </a:r>
            <a:endParaRPr lang="en-US" sz="1100" dirty="0"/>
          </a:p>
          <a:p>
            <a:pPr marL="342900" indent="-342900">
              <a:lnSpc>
                <a:spcPts val="2400"/>
              </a:lnSpc>
              <a:buSzPct val="100000"/>
              <a:buChar char="•"/>
            </a:pPr>
            <a:r>
              <a:rPr lang="en-US" sz="1100" dirty="0">
                <a:solidFill>
                  <a:srgbClr val="1E1E1E"/>
                </a:solidFill>
                <a:latin typeface="Calibri" pitchFamily="34" charset="0"/>
                <a:ea typeface="Calibri" pitchFamily="34" charset="-122"/>
                <a:cs typeface="Calibri" pitchFamily="34" charset="-120"/>
              </a:rPr>
              <a:t>Daha fazla gerçek veriyle model eğitimi</a:t>
            </a:r>
            <a:endParaRPr lang="en-US" sz="1100" dirty="0"/>
          </a:p>
          <a:p>
            <a:pPr marL="342900" indent="-342900">
              <a:lnSpc>
                <a:spcPts val="2400"/>
              </a:lnSpc>
              <a:buSzPct val="100000"/>
              <a:buChar char="•"/>
            </a:pPr>
            <a:r>
              <a:rPr lang="en-US" sz="1100" dirty="0">
                <a:solidFill>
                  <a:srgbClr val="1E1E1E"/>
                </a:solidFill>
                <a:latin typeface="Calibri" pitchFamily="34" charset="0"/>
                <a:ea typeface="Calibri" pitchFamily="34" charset="-122"/>
                <a:cs typeface="Calibri" pitchFamily="34" charset="-120"/>
              </a:rPr>
              <a:t>Mobil uyumlu responsive panel tasarımı</a:t>
            </a:r>
            <a:endParaRPr lang="en-US" sz="1100" dirty="0"/>
          </a:p>
          <a:p>
            <a:pPr marL="342900" indent="-342900">
              <a:lnSpc>
                <a:spcPts val="2400"/>
              </a:lnSpc>
              <a:buSzPct val="100000"/>
              <a:buChar char="•"/>
            </a:pPr>
            <a:r>
              <a:rPr lang="en-US" sz="1100" dirty="0">
                <a:solidFill>
                  <a:srgbClr val="1E1E1E"/>
                </a:solidFill>
                <a:latin typeface="Calibri" pitchFamily="34" charset="0"/>
                <a:ea typeface="Calibri" pitchFamily="34" charset="-122"/>
                <a:cs typeface="Calibri" pitchFamily="34" charset="-120"/>
              </a:rPr>
              <a:t>Zaman serisi grafiklerle veri analizi</a:t>
            </a:r>
            <a:endParaRPr lang="en-US" sz="1100" dirty="0"/>
          </a:p>
          <a:p>
            <a:pPr marL="342900" indent="-342900">
              <a:lnSpc>
                <a:spcPts val="2400"/>
              </a:lnSpc>
              <a:buSzPct val="100000"/>
              <a:buChar char="•"/>
            </a:pPr>
            <a:r>
              <a:rPr lang="en-US" sz="1100" dirty="0">
                <a:solidFill>
                  <a:srgbClr val="1E1E1E"/>
                </a:solidFill>
                <a:latin typeface="Calibri" pitchFamily="34" charset="0"/>
                <a:ea typeface="Calibri" pitchFamily="34" charset="-122"/>
                <a:cs typeface="Calibri" pitchFamily="34" charset="-120"/>
              </a:rPr>
              <a:t>Ek sensörler (CO2, ışık spektrumu)</a:t>
            </a:r>
            <a:endParaRPr lang="en-US" sz="1100" dirty="0"/>
          </a:p>
          <a:p>
            <a:pPr marL="342900" indent="-342900">
              <a:lnSpc>
                <a:spcPts val="2400"/>
              </a:lnSpc>
              <a:buSzPct val="100000"/>
              <a:buChar char="•"/>
            </a:pPr>
            <a:r>
              <a:rPr lang="en-US" sz="1100" dirty="0">
                <a:solidFill>
                  <a:srgbClr val="1E1E1E"/>
                </a:solidFill>
                <a:latin typeface="Calibri" pitchFamily="34" charset="0"/>
                <a:ea typeface="Calibri" pitchFamily="34" charset="-122"/>
                <a:cs typeface="Calibri" pitchFamily="34" charset="-120"/>
              </a:rPr>
              <a:t>Hava durumu verisinin ML modeline dahil edilmesi</a:t>
            </a:r>
            <a:endParaRPr lang="en-US" sz="1100" dirty="0"/>
          </a:p>
        </p:txBody>
      </p:sp>
      <p:sp>
        <p:nvSpPr>
          <p:cNvPr id="8" name="Shape 6"/>
          <p:cNvSpPr/>
          <p:nvPr/>
        </p:nvSpPr>
        <p:spPr>
          <a:xfrm>
            <a:off x="457200" y="3977640"/>
            <a:ext cx="8229600" cy="822960"/>
          </a:xfrm>
          <a:prstGeom prst="rect">
            <a:avLst/>
          </a:prstGeom>
          <a:solidFill>
            <a:srgbClr val="A5D6A7"/>
          </a:solidFill>
          <a:ln/>
        </p:spPr>
      </p:sp>
      <p:sp>
        <p:nvSpPr>
          <p:cNvPr id="9" name="Text 7"/>
          <p:cNvSpPr/>
          <p:nvPr/>
        </p:nvSpPr>
        <p:spPr>
          <a:xfrm>
            <a:off x="548640" y="3977640"/>
            <a:ext cx="8046720" cy="822960"/>
          </a:xfrm>
          <a:prstGeom prst="rect">
            <a:avLst/>
          </a:prstGeom>
          <a:noFill/>
          <a:ln/>
        </p:spPr>
        <p:txBody>
          <a:bodyPr wrap="square" lIns="0" tIns="0" rIns="0" bIns="0" rtlCol="0" anchor="ctr"/>
          <a:lstStyle/>
          <a:p>
            <a:pPr marL="0" indent="0" algn="ctr">
              <a:buNone/>
            </a:pPr>
            <a:r>
              <a:rPr lang="en-US" sz="1400" b="1" dirty="0">
                <a:solidFill>
                  <a:srgbClr val="1E1E1E"/>
                </a:solidFill>
                <a:latin typeface="Calibri" pitchFamily="34" charset="0"/>
                <a:ea typeface="Calibri" pitchFamily="34" charset="-122"/>
                <a:cs typeface="Calibri" pitchFamily="34" charset="-120"/>
              </a:rPr>
              <a:t>Teşekkürler • İletişim: [E-mail] • Sorularınız?</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TotalTime>
  <Words>1286</Words>
  <Application>Microsoft Office PowerPoint</Application>
  <PresentationFormat>Ekran Gösterisi (16:9)</PresentationFormat>
  <Paragraphs>184</Paragraphs>
  <Slides>12</Slides>
  <Notes>12</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12</vt:i4>
      </vt:variant>
    </vt:vector>
  </HeadingPairs>
  <TitlesOfParts>
    <vt:vector size="16" baseType="lpstr">
      <vt:lpstr>Arial</vt:lpstr>
      <vt:lpstr>Calibri</vt:lpstr>
      <vt:lpstr>Courier New</vt: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IoT Tabanlı Topraklı Tarımda Akıllı Işıklandırma Sistemi</dc:title>
  <dc:subject>PptxGenJS Presentation</dc:subject>
  <dc:creator>Bursa Teknik Üniversitesi - Takım 9</dc:creator>
  <cp:lastModifiedBy>Nazmi Cirim</cp:lastModifiedBy>
  <cp:revision>3</cp:revision>
  <dcterms:created xsi:type="dcterms:W3CDTF">2026-06-14T14:15:51Z</dcterms:created>
  <dcterms:modified xsi:type="dcterms:W3CDTF">2026-06-14T14:40:53Z</dcterms:modified>
</cp:coreProperties>
</file>